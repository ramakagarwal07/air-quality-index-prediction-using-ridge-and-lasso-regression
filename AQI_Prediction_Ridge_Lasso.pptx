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Our project is about estimating the Air Quality Index from pollutant measurements using Ridge and Lasso Regression. It is a Machine Learning project built in Python on Google Colab. I will explain the data, the AQI calculation, both models, and the interactive tool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AQI is a single number that tells people how clean or polluted the air is. Monitoring is important because pollution affects health, especially lungs and heart. ML can learn the relationship between pollutant levels and AQI from data, so predictions can be made quickly for new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has many pollutants at once, not just one. Each contributes differently to air quality. We want to understand their combined effect, so we use regression models that take all seven pollutant values and estimate AQI.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goals. We analysed data, processed it, calculated AQI, trained both models, compared them, and built an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Excel dataset has about 17,544 rows and 22 columns. We use seven pollutant columns as input X. The original dataset does NOT have a ready-made AQI column, so we calculated AQI ourselves and used it as target y. The sample table shows illustrative values only, not real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full pipeline. We load the dataset, clean it, fill missing values, select pollutants, calculate AQI, split the data, scale features, train Ridge and Lasso, evaluate them, and finally build the Gradio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by step: load Excel using Pandas, check shape, columns and data types, rename pollutant columns to simple names, convert values to numbers, fill missing values with the median because it is not affected by extreme values, then select the seven pollutants.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pollutant we find a sub-index using breakpoints: ranges of concentration mapped to ranges of index values. Interpolation means finding the value on the straight line between two breakpoints. The overall AQI is the highest sub-index, because the worst pollutant decides air quality. This is a calculated AQI, not an independently measured one, and we do not claim it is officially validated against all CPCB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80 percent of data for training and 20 percent for testing. The test set is never seen during training, so it gives an honest check. StandardScaler makes each feature have mean 0 and standard deviation 1. This matters for Ridge and Lasso because their penalty treats all coefficients equally, and features with large units would otherwise be penalised unfairly. We fit the scaler on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Ridge is linear regression with an L2 penalty. It adds alpha times the sum of squared coefficients to the error. A bigger alpha shrinks coefficients more. It keeps all features but prevents any one coefficient from becoming too large, which helps when pollutants are correlated.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Lasso uses an L1 penalty, the sum of absolute coefficient values. Because of the shape of this penalty, some coefficients can become exactly zero, so Lasso can act like automatic feature selection. The table compares both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is the average size of errors, lower is better. RMSE also averages errors but punishes large errors more, lower is better. R squared tells how much variation in AQI the model explains, closer to 1 is better. The table has placeholders: fill them with your actual notebook results. Do not claim a winner until you have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your own graphs from Colab into these boxes. In the actual-vs-predicted plot, points near the diagonal line mean good predictions. For the R squared chart, compare bar heights. For coefficients, see which pollutants matter and whether Lasso set any to zero. Only state which model is better after looking at your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Gradio interface inside Google Colab. The user types seven pollutant values. They are scaled using the fitted StandardScaler. Ridge and Lasso each give a prediction, and the interface shows both plus their average with an AQI category. The average is only a demonstration output; it is not a separately trained or validated model, and we do not call it the best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Our AQI target is calculated from the same pollutants used as features, so the model learns the formula, not real forecasting. High scores do not prove real-world prediction. Breakpoints and units need checking. In future we can use measured AQI labels, time-series forecasting, live data, tuned hyperparameters, and a deployed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 loaded and cleaned the data, calculated AQI, trained Ridge and Lasso, evaluated them with MAE, RMSE and R squared, and built a Gradio tool. Comparing models showed how L2 shrinks and L1 can zero out coefficients. Our conclusions depend on the actual measured results. Thank the faculty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 name="Shape 0"/>
          <p:cNvSpPr/>
          <p:nvPr/>
        </p:nvSpPr>
        <p:spPr>
          <a:xfrm>
            <a:off x="6035040" y="-914400"/>
            <a:ext cx="4572000" cy="4572000"/>
          </a:xfrm>
          <a:prstGeom prst="rect">
            <a:avLst/>
          </a:prstGeom>
          <a:solidFill>
            <a:srgbClr val="0F8B8D"/>
          </a:solidFill>
          <a:ln w="9525">
            <a:solidFill>
              <a:srgbClr val="0F8B8D"/>
            </a:solidFill>
            <a:prstDash val="solid"/>
          </a:ln>
        </p:spPr>
      </p:sp>
      <p:sp>
        <p:nvSpPr>
          <p:cNvPr id="4" name="Shape 1"/>
          <p:cNvSpPr/>
          <p:nvPr/>
        </p:nvSpPr>
        <p:spPr>
          <a:xfrm>
            <a:off x="6400800" y="2743200"/>
            <a:ext cx="3291840" cy="3291840"/>
          </a:xfrm>
          <a:prstGeom prst="ellipse">
            <a:avLst/>
          </a:prstGeom>
          <a:solidFill>
            <a:srgbClr val="6BBF59">
              <a:alpha val="40000"/>
            </a:srgbClr>
          </a:solidFill>
          <a:ln w="12700">
            <a:solidFill>
              <a:srgbClr val="6BBF59">
                <a:alpha val="40000"/>
              </a:srgbClr>
            </a:solidFill>
            <a:prstDash val="solid"/>
          </a:ln>
        </p:spPr>
      </p:sp>
      <p:sp>
        <p:nvSpPr>
          <p:cNvPr id="5" name="Shape 2"/>
          <p:cNvSpPr/>
          <p:nvPr/>
        </p:nvSpPr>
        <p:spPr>
          <a:xfrm>
            <a:off x="5486400" y="365760"/>
            <a:ext cx="1280160" cy="1280160"/>
          </a:xfrm>
          <a:prstGeom prst="ellipse">
            <a:avLst/>
          </a:prstGeom>
          <a:solidFill>
            <a:srgbClr val="FFFFFF">
              <a:alpha val="25000"/>
            </a:srgbClr>
          </a:solidFill>
          <a:ln w="12700">
            <a:solidFill>
              <a:srgbClr val="FFFFFF">
                <a:alpha val="25000"/>
              </a:srgbClr>
            </a:solidFill>
            <a:prstDash val="solid"/>
          </a:ln>
        </p:spPr>
      </p:sp>
      <p:sp>
        <p:nvSpPr>
          <p:cNvPr id="6" name="Shape 3"/>
          <p:cNvSpPr/>
          <p:nvPr/>
        </p:nvSpPr>
        <p:spPr>
          <a:xfrm>
            <a:off x="6766560" y="1097280"/>
            <a:ext cx="914400" cy="914400"/>
          </a:xfrm>
          <a:prstGeom prst="ellipse">
            <a:avLst/>
          </a:prstGeom>
          <a:solidFill>
            <a:srgbClr val="0B2545">
              <a:alpha val="80000"/>
            </a:srgbClr>
          </a:solidFill>
          <a:ln w="12700">
            <a:solidFill>
              <a:srgbClr val="FFFFFF"/>
            </a:solidFill>
            <a:prstDash val="solid"/>
          </a:ln>
        </p:spPr>
      </p:sp>
      <p:sp>
        <p:nvSpPr>
          <p:cNvPr id="7" name="Text 4"/>
          <p:cNvSpPr txBox="1"/>
          <p:nvPr/>
        </p:nvSpPr>
        <p:spPr>
          <a:xfrm>
            <a:off x="6766560" y="1097280"/>
            <a:ext cx="914400" cy="914400"/>
          </a:xfrm>
          <a:prstGeom prst="rect">
            <a:avLst/>
          </a:prstGeom>
          <a:noFill/>
        </p:spPr>
        <p:txBody>
          <a:bodyPr wrap="square" lIns="635" tIns="635" rIns="635" bIns="635"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PM2.5</a:t>
            </a:r>
            <a:endParaRPr lang="en-US" sz="1400" dirty="0"/>
          </a:p>
        </p:txBody>
      </p:sp>
      <p:sp>
        <p:nvSpPr>
          <p:cNvPr id="8" name="Shape 5"/>
          <p:cNvSpPr/>
          <p:nvPr/>
        </p:nvSpPr>
        <p:spPr>
          <a:xfrm>
            <a:off x="7863840" y="1097280"/>
            <a:ext cx="914400" cy="914400"/>
          </a:xfrm>
          <a:prstGeom prst="ellipse">
            <a:avLst/>
          </a:prstGeom>
          <a:solidFill>
            <a:srgbClr val="0B2545">
              <a:alpha val="80000"/>
            </a:srgbClr>
          </a:solidFill>
          <a:ln w="12700">
            <a:solidFill>
              <a:srgbClr val="FFFFFF"/>
            </a:solidFill>
            <a:prstDash val="solid"/>
          </a:ln>
        </p:spPr>
      </p:sp>
      <p:sp>
        <p:nvSpPr>
          <p:cNvPr id="9" name="Text 6"/>
          <p:cNvSpPr txBox="1"/>
          <p:nvPr/>
        </p:nvSpPr>
        <p:spPr>
          <a:xfrm>
            <a:off x="7863840" y="1097280"/>
            <a:ext cx="914400" cy="914400"/>
          </a:xfrm>
          <a:prstGeom prst="rect">
            <a:avLst/>
          </a:prstGeom>
          <a:noFill/>
        </p:spPr>
        <p:txBody>
          <a:bodyPr wrap="square" lIns="635" tIns="635" rIns="635" bIns="635"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NO2</a:t>
            </a:r>
            <a:endParaRPr lang="en-US" sz="1400" dirty="0"/>
          </a:p>
        </p:txBody>
      </p:sp>
      <p:sp>
        <p:nvSpPr>
          <p:cNvPr id="10" name="Shape 7"/>
          <p:cNvSpPr/>
          <p:nvPr/>
        </p:nvSpPr>
        <p:spPr>
          <a:xfrm>
            <a:off x="6766560" y="2194560"/>
            <a:ext cx="914400" cy="914400"/>
          </a:xfrm>
          <a:prstGeom prst="ellipse">
            <a:avLst/>
          </a:prstGeom>
          <a:solidFill>
            <a:srgbClr val="0B2545">
              <a:alpha val="80000"/>
            </a:srgbClr>
          </a:solidFill>
          <a:ln w="12700">
            <a:solidFill>
              <a:srgbClr val="FFFFFF"/>
            </a:solidFill>
            <a:prstDash val="solid"/>
          </a:ln>
        </p:spPr>
      </p:sp>
      <p:sp>
        <p:nvSpPr>
          <p:cNvPr id="11" name="Text 8"/>
          <p:cNvSpPr txBox="1"/>
          <p:nvPr/>
        </p:nvSpPr>
        <p:spPr>
          <a:xfrm>
            <a:off x="6766560" y="2194560"/>
            <a:ext cx="914400" cy="914400"/>
          </a:xfrm>
          <a:prstGeom prst="rect">
            <a:avLst/>
          </a:prstGeom>
          <a:noFill/>
        </p:spPr>
        <p:txBody>
          <a:bodyPr wrap="square" lIns="635" tIns="635" rIns="635" bIns="635"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a:t>
            </a:r>
            <a:endParaRPr lang="en-US" sz="1400" dirty="0"/>
          </a:p>
        </p:txBody>
      </p:sp>
      <p:sp>
        <p:nvSpPr>
          <p:cNvPr id="12" name="Shape 9"/>
          <p:cNvSpPr/>
          <p:nvPr/>
        </p:nvSpPr>
        <p:spPr>
          <a:xfrm>
            <a:off x="7863840" y="2194560"/>
            <a:ext cx="914400" cy="914400"/>
          </a:xfrm>
          <a:prstGeom prst="ellipse">
            <a:avLst/>
          </a:prstGeom>
          <a:solidFill>
            <a:srgbClr val="0B2545">
              <a:alpha val="80000"/>
            </a:srgbClr>
          </a:solidFill>
          <a:ln w="12700">
            <a:solidFill>
              <a:srgbClr val="FFFFFF"/>
            </a:solidFill>
            <a:prstDash val="solid"/>
          </a:ln>
        </p:spPr>
      </p:sp>
      <p:sp>
        <p:nvSpPr>
          <p:cNvPr id="13" name="Text 10"/>
          <p:cNvSpPr txBox="1"/>
          <p:nvPr/>
        </p:nvSpPr>
        <p:spPr>
          <a:xfrm>
            <a:off x="7863840" y="2194560"/>
            <a:ext cx="914400" cy="914400"/>
          </a:xfrm>
          <a:prstGeom prst="rect">
            <a:avLst/>
          </a:prstGeom>
          <a:noFill/>
        </p:spPr>
        <p:txBody>
          <a:bodyPr wrap="square" lIns="635" tIns="635" rIns="635" bIns="635"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O3</a:t>
            </a:r>
            <a:endParaRPr lang="en-US" sz="1400" dirty="0"/>
          </a:p>
        </p:txBody>
      </p:sp>
      <p:sp>
        <p:nvSpPr>
          <p:cNvPr id="14" name="Text 11"/>
          <p:cNvSpPr txBox="1"/>
          <p:nvPr/>
        </p:nvSpPr>
        <p:spPr>
          <a:xfrm>
            <a:off x="548640" y="640080"/>
            <a:ext cx="5029200" cy="365760"/>
          </a:xfrm>
          <a:prstGeom prst="rect">
            <a:avLst/>
          </a:prstGeom>
          <a:noFill/>
        </p:spPr>
        <p:txBody>
          <a:bodyPr wrap="square" lIns="635" tIns="635" rIns="635" bIns="635" rtlCol="0" anchor="t">
            <a:normAutofit/>
          </a:bodyPr>
          <a:lstStyle/>
          <a:p>
            <a:pPr marL="0" indent="0" algn="l">
              <a:buNone/>
            </a:pPr>
            <a:r>
              <a:rPr lang="en-US" sz="1400" b="1" kern="0" spc="300" dirty="0">
                <a:solidFill>
                  <a:srgbClr val="6BBF59"/>
                </a:solidFill>
                <a:latin typeface="Calibri" panose="020F0502020204030204" pitchFamily="34" charset="0"/>
                <a:ea typeface="Calibri" panose="020F0502020204030204" pitchFamily="34" charset="-122"/>
                <a:cs typeface="Calibri" panose="020F0502020204030204" pitchFamily="34" charset="-120"/>
              </a:rPr>
              <a:t>MACHINE LEARNING PROJECT</a:t>
            </a:r>
            <a:endParaRPr lang="en-US" sz="1400" dirty="0"/>
          </a:p>
        </p:txBody>
      </p:sp>
      <p:sp>
        <p:nvSpPr>
          <p:cNvPr id="15" name="Text 12"/>
          <p:cNvSpPr txBox="1"/>
          <p:nvPr/>
        </p:nvSpPr>
        <p:spPr>
          <a:xfrm>
            <a:off x="548640" y="1097280"/>
            <a:ext cx="5303520" cy="1554480"/>
          </a:xfrm>
          <a:prstGeom prst="rect">
            <a:avLst/>
          </a:prstGeom>
          <a:noFill/>
        </p:spPr>
        <p:txBody>
          <a:bodyPr wrap="square" lIns="635" tIns="635" rIns="635" bIns="635" rtlCol="0" anchor="ctr">
            <a:normAutofit/>
          </a:bodyPr>
          <a:lstStyle/>
          <a:p>
            <a:pPr marL="0" indent="0" algn="l">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Air Quality Index Prediction Using Ridge and Lasso Regression</a:t>
            </a:r>
            <a:endParaRPr lang="en-US" sz="3200" dirty="0"/>
          </a:p>
        </p:txBody>
      </p:sp>
      <p:sp>
        <p:nvSpPr>
          <p:cNvPr id="16" name="Text 13"/>
          <p:cNvSpPr txBox="1"/>
          <p:nvPr/>
        </p:nvSpPr>
        <p:spPr>
          <a:xfrm>
            <a:off x="548640" y="3017520"/>
            <a:ext cx="5304155" cy="695325"/>
          </a:xfrm>
          <a:prstGeom prst="rect">
            <a:avLst/>
          </a:prstGeom>
          <a:noFill/>
        </p:spPr>
        <p:txBody>
          <a:bodyPr wrap="square" lIns="635" tIns="635" rIns="635" bIns="635" rtlCol="0" anchor="t">
            <a:noAutofit/>
          </a:bodyPr>
          <a:lstStyle/>
          <a:p>
            <a:pPr marL="0" indent="0" algn="l">
              <a:buNone/>
            </a:pPr>
            <a:r>
              <a:rPr lang="en-US" sz="2000" dirty="0">
                <a:solidFill>
                  <a:srgbClr val="CBD5E1"/>
                </a:solidFill>
                <a:latin typeface="Calibri" panose="020F0502020204030204" pitchFamily="34" charset="0"/>
                <a:ea typeface="Calibri" panose="020F0502020204030204" pitchFamily="34" charset="-122"/>
                <a:cs typeface="Calibri" panose="020F0502020204030204" pitchFamily="34" charset="-120"/>
              </a:rPr>
              <a:t>Anirudh.K -2520080028</a:t>
            </a:r>
            <a:endParaRPr lang="en-US" sz="2000" dirty="0">
              <a:solidFill>
                <a:srgbClr val="CBD5E1"/>
              </a:solidFill>
              <a:latin typeface="Calibri" panose="020F0502020204030204" pitchFamily="34" charset="0"/>
              <a:ea typeface="Calibri" panose="020F0502020204030204" pitchFamily="34" charset="-122"/>
              <a:cs typeface="Calibri" panose="020F0502020204030204" pitchFamily="34" charset="-120"/>
            </a:endParaRPr>
          </a:p>
          <a:p>
            <a:pPr marL="0" indent="0" algn="l">
              <a:buNone/>
            </a:pPr>
            <a:r>
              <a:rPr lang="en-US" sz="2000" dirty="0">
                <a:solidFill>
                  <a:srgbClr val="CBD5E1"/>
                </a:solidFill>
                <a:latin typeface="Calibri" panose="020F0502020204030204" pitchFamily="34" charset="0"/>
                <a:ea typeface="Calibri" panose="020F0502020204030204" pitchFamily="34" charset="-122"/>
                <a:cs typeface="Calibri" panose="020F0502020204030204" pitchFamily="34" charset="-120"/>
              </a:rPr>
              <a:t>Ram Mohan Agarwal - 2520090037</a:t>
            </a:r>
            <a:endParaRPr lang="en-US" sz="2000" dirty="0">
              <a:solidFill>
                <a:srgbClr val="CBD5E1"/>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4"/>
          <p:cNvSpPr txBox="1"/>
          <p:nvPr/>
        </p:nvSpPr>
        <p:spPr>
          <a:xfrm>
            <a:off x="548640" y="4389120"/>
            <a:ext cx="5303520" cy="365760"/>
          </a:xfrm>
          <a:prstGeom prst="rect">
            <a:avLst/>
          </a:prstGeom>
          <a:noFill/>
        </p:spPr>
        <p:txBody>
          <a:bodyPr wrap="square" lIns="635" tIns="635" rIns="635" bIns="635" rtlCol="0" anchor="t">
            <a:normAutofit/>
          </a:bodyPr>
          <a:lstStyle/>
          <a:p>
            <a:pPr marL="0" indent="0" algn="l">
              <a:buNone/>
            </a:pPr>
            <a:r>
              <a:rPr lang="en-US" sz="1200" dirty="0">
                <a:solidFill>
                  <a:srgbClr val="6BBF59"/>
                </a:solidFill>
                <a:latin typeface="Calibri" panose="020F0502020204030204" pitchFamily="34" charset="0"/>
                <a:ea typeface="Calibri" panose="020F0502020204030204" pitchFamily="34" charset="-122"/>
                <a:cs typeface="Calibri" panose="020F0502020204030204" pitchFamily="34" charset="-120"/>
              </a:rPr>
              <a:t>Python • Google Colab • Scikit-learn • Gradio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Introduction</a:t>
            </a:r>
            <a:endParaRPr lang="en-US" sz="2800" dirty="0"/>
          </a:p>
        </p:txBody>
      </p:sp>
      <p:sp>
        <p:nvSpPr>
          <p:cNvPr id="4" name="Shape 1"/>
          <p:cNvSpPr/>
          <p:nvPr/>
        </p:nvSpPr>
        <p:spPr>
          <a:xfrm>
            <a:off x="457200" y="1188720"/>
            <a:ext cx="2651760" cy="3017520"/>
          </a:xfrm>
          <a:prstGeom prst="roundRect">
            <a:avLst>
              <a:gd name="adj" fmla="val 2759"/>
            </a:avLst>
          </a:prstGeom>
          <a:solidFill>
            <a:srgbClr val="EEF6F7"/>
          </a:solidFill>
          <a:ln w="9525">
            <a:solidFill>
              <a:srgbClr val="EEF6F7"/>
            </a:solidFill>
            <a:prstDash val="solid"/>
          </a:ln>
        </p:spPr>
      </p:sp>
      <p:sp>
        <p:nvSpPr>
          <p:cNvPr id="5" name="Shape 2"/>
          <p:cNvSpPr/>
          <p:nvPr/>
        </p:nvSpPr>
        <p:spPr>
          <a:xfrm>
            <a:off x="594360" y="1325880"/>
            <a:ext cx="109728" cy="109728"/>
          </a:xfrm>
          <a:prstGeom prst="rect">
            <a:avLst/>
          </a:prstGeom>
          <a:solidFill>
            <a:srgbClr val="0F8B8D"/>
          </a:solidFill>
          <a:ln w="9525">
            <a:solidFill>
              <a:srgbClr val="0F8B8D"/>
            </a:solidFill>
            <a:prstDash val="solid"/>
          </a:ln>
        </p:spPr>
      </p:sp>
      <p:sp>
        <p:nvSpPr>
          <p:cNvPr id="6" name="Text 3"/>
          <p:cNvSpPr txBox="1"/>
          <p:nvPr/>
        </p:nvSpPr>
        <p:spPr>
          <a:xfrm>
            <a:off x="749808" y="1261872"/>
            <a:ext cx="22860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What is AQI?</a:t>
            </a:r>
            <a:endParaRPr lang="en-US" sz="1500" dirty="0"/>
          </a:p>
        </p:txBody>
      </p:sp>
      <p:sp>
        <p:nvSpPr>
          <p:cNvPr id="7" name="Text 4"/>
          <p:cNvSpPr txBox="1"/>
          <p:nvPr/>
        </p:nvSpPr>
        <p:spPr>
          <a:xfrm>
            <a:off x="594360" y="1600200"/>
            <a:ext cx="2377440" cy="2514600"/>
          </a:xfrm>
          <a:prstGeom prst="rect">
            <a:avLst/>
          </a:prstGeom>
          <a:noFill/>
        </p:spPr>
        <p:txBody>
          <a:bodyPr wrap="square" lIns="635" tIns="635" rIns="635" bIns="635" rtlCol="0" anchor="t">
            <a:normAutofit/>
          </a:bodyPr>
          <a:lstStyle/>
          <a:p>
            <a:pPr marL="0" indent="0" algn="l">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A single number (0–500) that summarises air quality from several pollutants. Higher = worse air.</a:t>
            </a:r>
            <a:endParaRPr lang="en-US" sz="1300" dirty="0"/>
          </a:p>
        </p:txBody>
      </p:sp>
      <p:sp>
        <p:nvSpPr>
          <p:cNvPr id="8" name="Shape 5"/>
          <p:cNvSpPr/>
          <p:nvPr/>
        </p:nvSpPr>
        <p:spPr>
          <a:xfrm>
            <a:off x="3291840" y="1188720"/>
            <a:ext cx="2651760" cy="3017520"/>
          </a:xfrm>
          <a:prstGeom prst="roundRect">
            <a:avLst>
              <a:gd name="adj" fmla="val 2759"/>
            </a:avLst>
          </a:prstGeom>
          <a:solidFill>
            <a:srgbClr val="EEF6F7"/>
          </a:solidFill>
          <a:ln w="9525">
            <a:solidFill>
              <a:srgbClr val="EEF6F7"/>
            </a:solidFill>
            <a:prstDash val="solid"/>
          </a:ln>
        </p:spPr>
      </p:sp>
      <p:sp>
        <p:nvSpPr>
          <p:cNvPr id="9" name="Shape 6"/>
          <p:cNvSpPr/>
          <p:nvPr/>
        </p:nvSpPr>
        <p:spPr>
          <a:xfrm>
            <a:off x="3429000" y="1325880"/>
            <a:ext cx="109728" cy="109728"/>
          </a:xfrm>
          <a:prstGeom prst="rect">
            <a:avLst/>
          </a:prstGeom>
          <a:solidFill>
            <a:srgbClr val="6BBF59"/>
          </a:solidFill>
          <a:ln w="9525">
            <a:solidFill>
              <a:srgbClr val="6BBF59"/>
            </a:solidFill>
            <a:prstDash val="solid"/>
          </a:ln>
        </p:spPr>
      </p:sp>
      <p:sp>
        <p:nvSpPr>
          <p:cNvPr id="10" name="Text 7"/>
          <p:cNvSpPr txBox="1"/>
          <p:nvPr/>
        </p:nvSpPr>
        <p:spPr>
          <a:xfrm>
            <a:off x="3584448" y="1261872"/>
            <a:ext cx="22860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Why monitor air?</a:t>
            </a:r>
            <a:endParaRPr lang="en-US" sz="1500" dirty="0"/>
          </a:p>
        </p:txBody>
      </p:sp>
      <p:sp>
        <p:nvSpPr>
          <p:cNvPr id="11" name="Text 8"/>
          <p:cNvSpPr txBox="1"/>
          <p:nvPr/>
        </p:nvSpPr>
        <p:spPr>
          <a:xfrm>
            <a:off x="3429000" y="1600200"/>
            <a:ext cx="2377440" cy="251460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Pollution harms lungs and heart</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Helps people and authorities take action</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Tracks city-level trends</a:t>
            </a:r>
            <a:endParaRPr lang="en-US" sz="1300" dirty="0"/>
          </a:p>
        </p:txBody>
      </p:sp>
      <p:sp>
        <p:nvSpPr>
          <p:cNvPr id="12" name="Shape 9"/>
          <p:cNvSpPr/>
          <p:nvPr/>
        </p:nvSpPr>
        <p:spPr>
          <a:xfrm>
            <a:off x="6126480" y="1188720"/>
            <a:ext cx="2651760" cy="3017520"/>
          </a:xfrm>
          <a:prstGeom prst="roundRect">
            <a:avLst>
              <a:gd name="adj" fmla="val 2759"/>
            </a:avLst>
          </a:prstGeom>
          <a:solidFill>
            <a:srgbClr val="EEF6F7"/>
          </a:solidFill>
          <a:ln w="9525">
            <a:solidFill>
              <a:srgbClr val="EEF6F7"/>
            </a:solidFill>
            <a:prstDash val="solid"/>
          </a:ln>
        </p:spPr>
      </p:sp>
      <p:sp>
        <p:nvSpPr>
          <p:cNvPr id="13" name="Shape 10"/>
          <p:cNvSpPr/>
          <p:nvPr/>
        </p:nvSpPr>
        <p:spPr>
          <a:xfrm>
            <a:off x="6263640" y="1325880"/>
            <a:ext cx="109728" cy="109728"/>
          </a:xfrm>
          <a:prstGeom prst="rect">
            <a:avLst/>
          </a:prstGeom>
          <a:solidFill>
            <a:srgbClr val="1D4E89"/>
          </a:solidFill>
          <a:ln w="9525">
            <a:solidFill>
              <a:srgbClr val="1D4E89"/>
            </a:solidFill>
            <a:prstDash val="solid"/>
          </a:ln>
        </p:spPr>
      </p:sp>
      <p:sp>
        <p:nvSpPr>
          <p:cNvPr id="14" name="Text 11"/>
          <p:cNvSpPr txBox="1"/>
          <p:nvPr/>
        </p:nvSpPr>
        <p:spPr>
          <a:xfrm>
            <a:off x="6419088" y="1261872"/>
            <a:ext cx="22860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How can ML help?</a:t>
            </a:r>
            <a:endParaRPr lang="en-US" sz="1500" dirty="0"/>
          </a:p>
        </p:txBody>
      </p:sp>
      <p:sp>
        <p:nvSpPr>
          <p:cNvPr id="15" name="Text 12"/>
          <p:cNvSpPr txBox="1"/>
          <p:nvPr/>
        </p:nvSpPr>
        <p:spPr>
          <a:xfrm>
            <a:off x="6263640" y="1600200"/>
            <a:ext cx="2377440" cy="251460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Learns patterns from past data</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Estimates AQI for new readings</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Quick and automated</a:t>
            </a:r>
            <a:endParaRPr lang="en-US" sz="1300" dirty="0"/>
          </a:p>
        </p:txBody>
      </p:sp>
      <p:sp>
        <p:nvSpPr>
          <p:cNvPr id="16" name="Text 13"/>
          <p:cNvSpPr txBox="1"/>
          <p:nvPr/>
        </p:nvSpPr>
        <p:spPr>
          <a:xfrm>
            <a:off x="457200" y="4389120"/>
            <a:ext cx="8229600" cy="365760"/>
          </a:xfrm>
          <a:prstGeom prst="rect">
            <a:avLst/>
          </a:prstGeom>
          <a:noFill/>
        </p:spPr>
        <p:txBody>
          <a:bodyPr wrap="square" lIns="635" tIns="635" rIns="635" bIns="635" rtlCol="0" anchor="t">
            <a:normAutofit/>
          </a:bodyPr>
          <a:lstStyle/>
          <a:p>
            <a:pPr marL="0" indent="0" algn="l">
              <a:buNone/>
            </a:pPr>
            <a:r>
              <a:rPr lang="en-US" sz="1400" i="1" dirty="0">
                <a:solidFill>
                  <a:srgbClr val="0F8B8D"/>
                </a:solidFill>
                <a:latin typeface="Calibri" panose="020F0502020204030204" pitchFamily="34" charset="0"/>
                <a:ea typeface="Calibri" panose="020F0502020204030204" pitchFamily="34" charset="-122"/>
                <a:cs typeface="Calibri" panose="020F0502020204030204" pitchFamily="34" charset="-120"/>
              </a:rPr>
              <a:t>This project uses Machine Learning (regression) on pollutant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2800" dirty="0"/>
          </a:p>
        </p:txBody>
      </p:sp>
      <p:sp>
        <p:nvSpPr>
          <p:cNvPr id="4" name="Text 1"/>
          <p:cNvSpPr txBox="1"/>
          <p:nvPr/>
        </p:nvSpPr>
        <p:spPr>
          <a:xfrm>
            <a:off x="457200" y="1188720"/>
            <a:ext cx="4206240" cy="274320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600" dirty="0">
                <a:solidFill>
                  <a:srgbClr val="334155"/>
                </a:solidFill>
                <a:latin typeface="Calibri" panose="020F0502020204030204" pitchFamily="34" charset="0"/>
                <a:ea typeface="Calibri" panose="020F0502020204030204" pitchFamily="34" charset="-122"/>
                <a:cs typeface="Calibri" panose="020F0502020204030204" pitchFamily="34" charset="-120"/>
              </a:rPr>
              <a:t>Air pollution contains multiple pollutants</a:t>
            </a:r>
            <a:endParaRPr lang="en-US" sz="1600" dirty="0"/>
          </a:p>
          <a:p>
            <a:pPr marL="342900" indent="-342900" algn="l">
              <a:spcAft>
                <a:spcPts val="400"/>
              </a:spcAft>
              <a:buSzPct val="100000"/>
              <a:buChar char="•"/>
            </a:pPr>
            <a:r>
              <a:rPr lang="en-US" sz="1600" dirty="0">
                <a:solidFill>
                  <a:srgbClr val="334155"/>
                </a:solidFill>
                <a:latin typeface="Calibri" panose="020F0502020204030204" pitchFamily="34" charset="0"/>
                <a:ea typeface="Calibri" panose="020F0502020204030204" pitchFamily="34" charset="-122"/>
                <a:cs typeface="Calibri" panose="020F0502020204030204" pitchFamily="34" charset="-120"/>
              </a:rPr>
              <a:t>Their combined impact on air quality is important to understand</a:t>
            </a:r>
            <a:endParaRPr lang="en-US" sz="1600" dirty="0"/>
          </a:p>
          <a:p>
            <a:pPr marL="342900" indent="-342900" algn="l">
              <a:spcAft>
                <a:spcPts val="400"/>
              </a:spcAft>
              <a:buSzPct val="100000"/>
              <a:buChar char="•"/>
            </a:pPr>
            <a:r>
              <a:rPr lang="en-US" sz="1600" dirty="0">
                <a:solidFill>
                  <a:srgbClr val="334155"/>
                </a:solidFill>
                <a:latin typeface="Calibri" panose="020F0502020204030204" pitchFamily="34" charset="0"/>
                <a:ea typeface="Calibri" panose="020F0502020204030204" pitchFamily="34" charset="-122"/>
                <a:cs typeface="Calibri" panose="020F0502020204030204" pitchFamily="34" charset="-120"/>
              </a:rPr>
              <a:t>This project explores regression models to estimate AQI from pollutant concentrations</a:t>
            </a:r>
            <a:endParaRPr lang="en-US" sz="1600" dirty="0"/>
          </a:p>
        </p:txBody>
      </p:sp>
      <p:sp>
        <p:nvSpPr>
          <p:cNvPr id="5" name="Shape 2"/>
          <p:cNvSpPr/>
          <p:nvPr/>
        </p:nvSpPr>
        <p:spPr>
          <a:xfrm>
            <a:off x="6675120" y="1371600"/>
            <a:ext cx="9144" cy="1371600"/>
          </a:xfrm>
          <a:prstGeom prst="line">
            <a:avLst/>
          </a:prstGeom>
          <a:noFill/>
          <a:ln w="15875">
            <a:solidFill>
              <a:srgbClr val="0F8B8D"/>
            </a:solidFill>
            <a:prstDash val="solid"/>
          </a:ln>
        </p:spPr>
      </p:sp>
      <p:sp>
        <p:nvSpPr>
          <p:cNvPr id="6" name="Shape 3"/>
          <p:cNvSpPr/>
          <p:nvPr/>
        </p:nvSpPr>
        <p:spPr>
          <a:xfrm>
            <a:off x="6327648" y="1024128"/>
            <a:ext cx="694944" cy="694944"/>
          </a:xfrm>
          <a:prstGeom prst="ellipse">
            <a:avLst/>
          </a:prstGeom>
          <a:solidFill>
            <a:srgbClr val="0F8B8D"/>
          </a:solidFill>
          <a:ln w="12700">
            <a:solidFill>
              <a:srgbClr val="FFFFFF"/>
            </a:solidFill>
            <a:prstDash val="solid"/>
          </a:ln>
        </p:spPr>
      </p:sp>
      <p:sp>
        <p:nvSpPr>
          <p:cNvPr id="7" name="Text 4"/>
          <p:cNvSpPr txBox="1"/>
          <p:nvPr/>
        </p:nvSpPr>
        <p:spPr>
          <a:xfrm>
            <a:off x="6327648" y="1024128"/>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PM2.5</a:t>
            </a:r>
            <a:endParaRPr lang="en-US" sz="1100" dirty="0"/>
          </a:p>
        </p:txBody>
      </p:sp>
      <p:sp>
        <p:nvSpPr>
          <p:cNvPr id="8" name="Shape 5"/>
          <p:cNvSpPr/>
          <p:nvPr/>
        </p:nvSpPr>
        <p:spPr>
          <a:xfrm flipH="1">
            <a:off x="6675120" y="1888021"/>
            <a:ext cx="1215341" cy="855179"/>
          </a:xfrm>
          <a:prstGeom prst="line">
            <a:avLst/>
          </a:prstGeom>
          <a:noFill/>
          <a:ln w="15875">
            <a:solidFill>
              <a:srgbClr val="0F8B8D"/>
            </a:solidFill>
            <a:prstDash val="solid"/>
          </a:ln>
        </p:spPr>
      </p:sp>
      <p:sp>
        <p:nvSpPr>
          <p:cNvPr id="9" name="Shape 6"/>
          <p:cNvSpPr/>
          <p:nvPr/>
        </p:nvSpPr>
        <p:spPr>
          <a:xfrm>
            <a:off x="7542989" y="1540549"/>
            <a:ext cx="694944" cy="694944"/>
          </a:xfrm>
          <a:prstGeom prst="ellipse">
            <a:avLst/>
          </a:prstGeom>
          <a:solidFill>
            <a:srgbClr val="0F8B8D"/>
          </a:solidFill>
          <a:ln w="12700">
            <a:solidFill>
              <a:srgbClr val="FFFFFF"/>
            </a:solidFill>
            <a:prstDash val="solid"/>
          </a:ln>
        </p:spPr>
      </p:sp>
      <p:sp>
        <p:nvSpPr>
          <p:cNvPr id="10" name="Text 7"/>
          <p:cNvSpPr txBox="1"/>
          <p:nvPr/>
        </p:nvSpPr>
        <p:spPr>
          <a:xfrm>
            <a:off x="7542989" y="1540549"/>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PM10</a:t>
            </a:r>
            <a:endParaRPr lang="en-US" sz="1100" dirty="0"/>
          </a:p>
        </p:txBody>
      </p:sp>
      <p:sp>
        <p:nvSpPr>
          <p:cNvPr id="11" name="Shape 8"/>
          <p:cNvSpPr/>
          <p:nvPr/>
        </p:nvSpPr>
        <p:spPr>
          <a:xfrm>
            <a:off x="6675120" y="2743200"/>
            <a:ext cx="1515506" cy="305210"/>
          </a:xfrm>
          <a:prstGeom prst="line">
            <a:avLst/>
          </a:prstGeom>
          <a:noFill/>
          <a:ln w="15875">
            <a:solidFill>
              <a:srgbClr val="0F8B8D"/>
            </a:solidFill>
            <a:prstDash val="solid"/>
          </a:ln>
        </p:spPr>
      </p:sp>
      <p:sp>
        <p:nvSpPr>
          <p:cNvPr id="12" name="Shape 9"/>
          <p:cNvSpPr/>
          <p:nvPr/>
        </p:nvSpPr>
        <p:spPr>
          <a:xfrm>
            <a:off x="7843154" y="2700938"/>
            <a:ext cx="694944" cy="694944"/>
          </a:xfrm>
          <a:prstGeom prst="ellipse">
            <a:avLst/>
          </a:prstGeom>
          <a:solidFill>
            <a:srgbClr val="0F8B8D"/>
          </a:solidFill>
          <a:ln w="12700">
            <a:solidFill>
              <a:srgbClr val="FFFFFF"/>
            </a:solidFill>
            <a:prstDash val="solid"/>
          </a:ln>
        </p:spPr>
      </p:sp>
      <p:sp>
        <p:nvSpPr>
          <p:cNvPr id="13" name="Text 10"/>
          <p:cNvSpPr txBox="1"/>
          <p:nvPr/>
        </p:nvSpPr>
        <p:spPr>
          <a:xfrm>
            <a:off x="7843154" y="2700938"/>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NO2</a:t>
            </a:r>
            <a:endParaRPr lang="en-US" sz="1100" dirty="0"/>
          </a:p>
        </p:txBody>
      </p:sp>
      <p:sp>
        <p:nvSpPr>
          <p:cNvPr id="14" name="Shape 11"/>
          <p:cNvSpPr/>
          <p:nvPr/>
        </p:nvSpPr>
        <p:spPr>
          <a:xfrm>
            <a:off x="6675120" y="2743200"/>
            <a:ext cx="674464" cy="1235769"/>
          </a:xfrm>
          <a:prstGeom prst="line">
            <a:avLst/>
          </a:prstGeom>
          <a:noFill/>
          <a:ln w="15875">
            <a:solidFill>
              <a:srgbClr val="0F8B8D"/>
            </a:solidFill>
            <a:prstDash val="solid"/>
          </a:ln>
        </p:spPr>
      </p:sp>
      <p:sp>
        <p:nvSpPr>
          <p:cNvPr id="15" name="Shape 12"/>
          <p:cNvSpPr/>
          <p:nvPr/>
        </p:nvSpPr>
        <p:spPr>
          <a:xfrm>
            <a:off x="7002112" y="3631497"/>
            <a:ext cx="694944" cy="694944"/>
          </a:xfrm>
          <a:prstGeom prst="ellipse">
            <a:avLst/>
          </a:prstGeom>
          <a:solidFill>
            <a:srgbClr val="0F8B8D"/>
          </a:solidFill>
          <a:ln w="12700">
            <a:solidFill>
              <a:srgbClr val="FFFFFF"/>
            </a:solidFill>
            <a:prstDash val="solid"/>
          </a:ln>
        </p:spPr>
      </p:sp>
      <p:sp>
        <p:nvSpPr>
          <p:cNvPr id="16" name="Text 13"/>
          <p:cNvSpPr txBox="1"/>
          <p:nvPr/>
        </p:nvSpPr>
        <p:spPr>
          <a:xfrm>
            <a:off x="7002112" y="3631497"/>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NH3</a:t>
            </a:r>
            <a:endParaRPr lang="en-US" sz="1100" dirty="0"/>
          </a:p>
        </p:txBody>
      </p:sp>
      <p:sp>
        <p:nvSpPr>
          <p:cNvPr id="17" name="Shape 14"/>
          <p:cNvSpPr/>
          <p:nvPr/>
        </p:nvSpPr>
        <p:spPr>
          <a:xfrm flipH="1">
            <a:off x="6000656" y="2743200"/>
            <a:ext cx="674464" cy="1235769"/>
          </a:xfrm>
          <a:prstGeom prst="line">
            <a:avLst/>
          </a:prstGeom>
          <a:noFill/>
          <a:ln w="15875">
            <a:solidFill>
              <a:srgbClr val="0F8B8D"/>
            </a:solidFill>
            <a:prstDash val="solid"/>
          </a:ln>
        </p:spPr>
      </p:sp>
      <p:sp>
        <p:nvSpPr>
          <p:cNvPr id="18" name="Shape 15"/>
          <p:cNvSpPr/>
          <p:nvPr/>
        </p:nvSpPr>
        <p:spPr>
          <a:xfrm>
            <a:off x="5653184" y="3631497"/>
            <a:ext cx="694944" cy="694944"/>
          </a:xfrm>
          <a:prstGeom prst="ellipse">
            <a:avLst/>
          </a:prstGeom>
          <a:solidFill>
            <a:srgbClr val="0F8B8D"/>
          </a:solidFill>
          <a:ln w="12700">
            <a:solidFill>
              <a:srgbClr val="FFFFFF"/>
            </a:solidFill>
            <a:prstDash val="solid"/>
          </a:ln>
        </p:spPr>
      </p:sp>
      <p:sp>
        <p:nvSpPr>
          <p:cNvPr id="19" name="Text 16"/>
          <p:cNvSpPr txBox="1"/>
          <p:nvPr/>
        </p:nvSpPr>
        <p:spPr>
          <a:xfrm>
            <a:off x="5653184" y="3631497"/>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SO2</a:t>
            </a:r>
            <a:endParaRPr lang="en-US" sz="1100" dirty="0"/>
          </a:p>
        </p:txBody>
      </p:sp>
      <p:sp>
        <p:nvSpPr>
          <p:cNvPr id="20" name="Shape 17"/>
          <p:cNvSpPr/>
          <p:nvPr/>
        </p:nvSpPr>
        <p:spPr>
          <a:xfrm flipH="1">
            <a:off x="5159614" y="2743200"/>
            <a:ext cx="1515506" cy="305210"/>
          </a:xfrm>
          <a:prstGeom prst="line">
            <a:avLst/>
          </a:prstGeom>
          <a:noFill/>
          <a:ln w="15875">
            <a:solidFill>
              <a:srgbClr val="0F8B8D"/>
            </a:solidFill>
            <a:prstDash val="solid"/>
          </a:ln>
        </p:spPr>
      </p:sp>
      <p:sp>
        <p:nvSpPr>
          <p:cNvPr id="21" name="Shape 18"/>
          <p:cNvSpPr/>
          <p:nvPr/>
        </p:nvSpPr>
        <p:spPr>
          <a:xfrm>
            <a:off x="4812142" y="2700938"/>
            <a:ext cx="694944" cy="694944"/>
          </a:xfrm>
          <a:prstGeom prst="ellipse">
            <a:avLst/>
          </a:prstGeom>
          <a:solidFill>
            <a:srgbClr val="0F8B8D"/>
          </a:solidFill>
          <a:ln w="12700">
            <a:solidFill>
              <a:srgbClr val="FFFFFF"/>
            </a:solidFill>
            <a:prstDash val="solid"/>
          </a:ln>
        </p:spPr>
      </p:sp>
      <p:sp>
        <p:nvSpPr>
          <p:cNvPr id="22" name="Text 19"/>
          <p:cNvSpPr txBox="1"/>
          <p:nvPr/>
        </p:nvSpPr>
        <p:spPr>
          <a:xfrm>
            <a:off x="4812142" y="2700938"/>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a:t>
            </a:r>
            <a:endParaRPr lang="en-US" sz="1100" dirty="0"/>
          </a:p>
        </p:txBody>
      </p:sp>
      <p:sp>
        <p:nvSpPr>
          <p:cNvPr id="23" name="Shape 20"/>
          <p:cNvSpPr/>
          <p:nvPr/>
        </p:nvSpPr>
        <p:spPr>
          <a:xfrm>
            <a:off x="5459779" y="1888021"/>
            <a:ext cx="1215341" cy="855179"/>
          </a:xfrm>
          <a:prstGeom prst="line">
            <a:avLst/>
          </a:prstGeom>
          <a:noFill/>
          <a:ln w="15875">
            <a:solidFill>
              <a:srgbClr val="0F8B8D"/>
            </a:solidFill>
            <a:prstDash val="solid"/>
          </a:ln>
        </p:spPr>
      </p:sp>
      <p:sp>
        <p:nvSpPr>
          <p:cNvPr id="24" name="Shape 21"/>
          <p:cNvSpPr/>
          <p:nvPr/>
        </p:nvSpPr>
        <p:spPr>
          <a:xfrm>
            <a:off x="5112307" y="1540549"/>
            <a:ext cx="694944" cy="694944"/>
          </a:xfrm>
          <a:prstGeom prst="ellipse">
            <a:avLst/>
          </a:prstGeom>
          <a:solidFill>
            <a:srgbClr val="0F8B8D"/>
          </a:solidFill>
          <a:ln w="12700">
            <a:solidFill>
              <a:srgbClr val="FFFFFF"/>
            </a:solidFill>
            <a:prstDash val="solid"/>
          </a:ln>
        </p:spPr>
      </p:sp>
      <p:sp>
        <p:nvSpPr>
          <p:cNvPr id="25" name="Text 22"/>
          <p:cNvSpPr txBox="1"/>
          <p:nvPr/>
        </p:nvSpPr>
        <p:spPr>
          <a:xfrm>
            <a:off x="5112307" y="1540549"/>
            <a:ext cx="694944" cy="694944"/>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O3</a:t>
            </a:r>
            <a:endParaRPr lang="en-US" sz="1100" dirty="0"/>
          </a:p>
        </p:txBody>
      </p:sp>
      <p:sp>
        <p:nvSpPr>
          <p:cNvPr id="26" name="Shape 23"/>
          <p:cNvSpPr/>
          <p:nvPr/>
        </p:nvSpPr>
        <p:spPr>
          <a:xfrm>
            <a:off x="6035040" y="2103120"/>
            <a:ext cx="1280160" cy="1280160"/>
          </a:xfrm>
          <a:prstGeom prst="ellipse">
            <a:avLst/>
          </a:prstGeom>
          <a:solidFill>
            <a:srgbClr val="0B2545"/>
          </a:solidFill>
          <a:ln w="25400">
            <a:solidFill>
              <a:srgbClr val="6BBF59"/>
            </a:solidFill>
            <a:prstDash val="solid"/>
          </a:ln>
        </p:spPr>
      </p:sp>
      <p:sp>
        <p:nvSpPr>
          <p:cNvPr id="27" name="Text 24"/>
          <p:cNvSpPr txBox="1"/>
          <p:nvPr/>
        </p:nvSpPr>
        <p:spPr>
          <a:xfrm>
            <a:off x="6035040" y="2103120"/>
            <a:ext cx="1280160" cy="1280160"/>
          </a:xfrm>
          <a:prstGeom prst="rect">
            <a:avLst/>
          </a:prstGeom>
          <a:noFill/>
        </p:spPr>
        <p:txBody>
          <a:bodyPr wrap="square" lIns="635" tIns="635" rIns="635" bIns="635" rtlCol="0" anchor="ctr">
            <a:normAutofit/>
          </a:bodyP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AQI</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Project Objectives</a:t>
            </a:r>
            <a:endParaRPr lang="en-US" sz="2800" dirty="0"/>
          </a:p>
        </p:txBody>
      </p:sp>
      <p:sp>
        <p:nvSpPr>
          <p:cNvPr id="4" name="Shape 1"/>
          <p:cNvSpPr/>
          <p:nvPr/>
        </p:nvSpPr>
        <p:spPr>
          <a:xfrm>
            <a:off x="457200" y="1188720"/>
            <a:ext cx="2651760" cy="1463040"/>
          </a:xfrm>
          <a:prstGeom prst="roundRect">
            <a:avLst>
              <a:gd name="adj" fmla="val 5000"/>
            </a:avLst>
          </a:prstGeom>
          <a:solidFill>
            <a:srgbClr val="EEF6F7"/>
          </a:solidFill>
          <a:ln w="9525">
            <a:solidFill>
              <a:srgbClr val="EEF6F7"/>
            </a:solidFill>
            <a:prstDash val="solid"/>
          </a:ln>
        </p:spPr>
      </p:sp>
      <p:sp>
        <p:nvSpPr>
          <p:cNvPr id="5" name="Shape 2"/>
          <p:cNvSpPr/>
          <p:nvPr/>
        </p:nvSpPr>
        <p:spPr>
          <a:xfrm>
            <a:off x="594360" y="1325880"/>
            <a:ext cx="457200" cy="457200"/>
          </a:xfrm>
          <a:prstGeom prst="ellipse">
            <a:avLst/>
          </a:prstGeom>
          <a:solidFill>
            <a:srgbClr val="0F8B8D"/>
          </a:solidFill>
          <a:ln w="12700">
            <a:solidFill>
              <a:srgbClr val="FFFFFF"/>
            </a:solidFill>
            <a:prstDash val="solid"/>
          </a:ln>
        </p:spPr>
      </p:sp>
      <p:sp>
        <p:nvSpPr>
          <p:cNvPr id="6" name="Text 3"/>
          <p:cNvSpPr txBox="1"/>
          <p:nvPr/>
        </p:nvSpPr>
        <p:spPr>
          <a:xfrm>
            <a:off x="594360" y="1325880"/>
            <a:ext cx="457200" cy="457200"/>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4"/>
          <p:cNvSpPr txBox="1"/>
          <p:nvPr/>
        </p:nvSpPr>
        <p:spPr>
          <a:xfrm>
            <a:off x="594360" y="1828800"/>
            <a:ext cx="2377440" cy="73152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Analyze air-pollution data</a:t>
            </a:r>
            <a:endParaRPr lang="en-US" sz="1400" dirty="0"/>
          </a:p>
        </p:txBody>
      </p:sp>
      <p:sp>
        <p:nvSpPr>
          <p:cNvPr id="8" name="Shape 5"/>
          <p:cNvSpPr/>
          <p:nvPr/>
        </p:nvSpPr>
        <p:spPr>
          <a:xfrm>
            <a:off x="3291840" y="1188720"/>
            <a:ext cx="2651760" cy="1463040"/>
          </a:xfrm>
          <a:prstGeom prst="roundRect">
            <a:avLst>
              <a:gd name="adj" fmla="val 5000"/>
            </a:avLst>
          </a:prstGeom>
          <a:solidFill>
            <a:srgbClr val="EEF6F7"/>
          </a:solidFill>
          <a:ln w="9525">
            <a:solidFill>
              <a:srgbClr val="EEF6F7"/>
            </a:solidFill>
            <a:prstDash val="solid"/>
          </a:ln>
        </p:spPr>
      </p:sp>
      <p:sp>
        <p:nvSpPr>
          <p:cNvPr id="9" name="Shape 6"/>
          <p:cNvSpPr/>
          <p:nvPr/>
        </p:nvSpPr>
        <p:spPr>
          <a:xfrm>
            <a:off x="3429000" y="1325880"/>
            <a:ext cx="457200" cy="457200"/>
          </a:xfrm>
          <a:prstGeom prst="ellipse">
            <a:avLst/>
          </a:prstGeom>
          <a:solidFill>
            <a:srgbClr val="6BBF59"/>
          </a:solidFill>
          <a:ln w="12700">
            <a:solidFill>
              <a:srgbClr val="FFFFFF"/>
            </a:solidFill>
            <a:prstDash val="solid"/>
          </a:ln>
        </p:spPr>
      </p:sp>
      <p:sp>
        <p:nvSpPr>
          <p:cNvPr id="10" name="Text 7"/>
          <p:cNvSpPr txBox="1"/>
          <p:nvPr/>
        </p:nvSpPr>
        <p:spPr>
          <a:xfrm>
            <a:off x="3429000" y="1325880"/>
            <a:ext cx="457200" cy="457200"/>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1" name="Text 8"/>
          <p:cNvSpPr txBox="1"/>
          <p:nvPr/>
        </p:nvSpPr>
        <p:spPr>
          <a:xfrm>
            <a:off x="3429000" y="1828800"/>
            <a:ext cx="2377440" cy="73152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Process pollutant measurements</a:t>
            </a:r>
            <a:endParaRPr lang="en-US" sz="1400" dirty="0"/>
          </a:p>
        </p:txBody>
      </p:sp>
      <p:sp>
        <p:nvSpPr>
          <p:cNvPr id="12" name="Shape 9"/>
          <p:cNvSpPr/>
          <p:nvPr/>
        </p:nvSpPr>
        <p:spPr>
          <a:xfrm>
            <a:off x="6126480" y="1188720"/>
            <a:ext cx="2651760" cy="1463040"/>
          </a:xfrm>
          <a:prstGeom prst="roundRect">
            <a:avLst>
              <a:gd name="adj" fmla="val 5000"/>
            </a:avLst>
          </a:prstGeom>
          <a:solidFill>
            <a:srgbClr val="EEF6F7"/>
          </a:solidFill>
          <a:ln w="9525">
            <a:solidFill>
              <a:srgbClr val="EEF6F7"/>
            </a:solidFill>
            <a:prstDash val="solid"/>
          </a:ln>
        </p:spPr>
      </p:sp>
      <p:sp>
        <p:nvSpPr>
          <p:cNvPr id="13" name="Shape 10"/>
          <p:cNvSpPr/>
          <p:nvPr/>
        </p:nvSpPr>
        <p:spPr>
          <a:xfrm>
            <a:off x="6263640" y="1325880"/>
            <a:ext cx="457200" cy="457200"/>
          </a:xfrm>
          <a:prstGeom prst="ellipse">
            <a:avLst/>
          </a:prstGeom>
          <a:solidFill>
            <a:srgbClr val="0F8B8D"/>
          </a:solidFill>
          <a:ln w="12700">
            <a:solidFill>
              <a:srgbClr val="FFFFFF"/>
            </a:solidFill>
            <a:prstDash val="solid"/>
          </a:ln>
        </p:spPr>
      </p:sp>
      <p:sp>
        <p:nvSpPr>
          <p:cNvPr id="14" name="Text 11"/>
          <p:cNvSpPr txBox="1"/>
          <p:nvPr/>
        </p:nvSpPr>
        <p:spPr>
          <a:xfrm>
            <a:off x="6263640" y="1325880"/>
            <a:ext cx="457200" cy="457200"/>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5" name="Text 12"/>
          <p:cNvSpPr txBox="1"/>
          <p:nvPr/>
        </p:nvSpPr>
        <p:spPr>
          <a:xfrm>
            <a:off x="6263640" y="1828800"/>
            <a:ext cx="2377440" cy="73152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Calculate an AQI target from pollutant concentrations</a:t>
            </a:r>
            <a:endParaRPr lang="en-US" sz="1400" dirty="0"/>
          </a:p>
        </p:txBody>
      </p:sp>
      <p:sp>
        <p:nvSpPr>
          <p:cNvPr id="16" name="Shape 13"/>
          <p:cNvSpPr/>
          <p:nvPr/>
        </p:nvSpPr>
        <p:spPr>
          <a:xfrm>
            <a:off x="457200" y="2926080"/>
            <a:ext cx="2651760" cy="1463040"/>
          </a:xfrm>
          <a:prstGeom prst="roundRect">
            <a:avLst>
              <a:gd name="adj" fmla="val 5000"/>
            </a:avLst>
          </a:prstGeom>
          <a:solidFill>
            <a:srgbClr val="EEF6F7"/>
          </a:solidFill>
          <a:ln w="9525">
            <a:solidFill>
              <a:srgbClr val="EEF6F7"/>
            </a:solidFill>
            <a:prstDash val="solid"/>
          </a:ln>
        </p:spPr>
      </p:sp>
      <p:sp>
        <p:nvSpPr>
          <p:cNvPr id="17" name="Shape 14"/>
          <p:cNvSpPr/>
          <p:nvPr/>
        </p:nvSpPr>
        <p:spPr>
          <a:xfrm>
            <a:off x="594360" y="3063240"/>
            <a:ext cx="457200" cy="457200"/>
          </a:xfrm>
          <a:prstGeom prst="ellipse">
            <a:avLst/>
          </a:prstGeom>
          <a:solidFill>
            <a:srgbClr val="6BBF59"/>
          </a:solidFill>
          <a:ln w="12700">
            <a:solidFill>
              <a:srgbClr val="FFFFFF"/>
            </a:solidFill>
            <a:prstDash val="solid"/>
          </a:ln>
        </p:spPr>
      </p:sp>
      <p:sp>
        <p:nvSpPr>
          <p:cNvPr id="18" name="Text 15"/>
          <p:cNvSpPr txBox="1"/>
          <p:nvPr/>
        </p:nvSpPr>
        <p:spPr>
          <a:xfrm>
            <a:off x="594360" y="3063240"/>
            <a:ext cx="457200" cy="457200"/>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9" name="Text 16"/>
          <p:cNvSpPr txBox="1"/>
          <p:nvPr/>
        </p:nvSpPr>
        <p:spPr>
          <a:xfrm>
            <a:off x="594360" y="3566160"/>
            <a:ext cx="2377440" cy="73152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Train Ridge and Lasso Regression models</a:t>
            </a:r>
            <a:endParaRPr lang="en-US" sz="1400" dirty="0"/>
          </a:p>
        </p:txBody>
      </p:sp>
      <p:sp>
        <p:nvSpPr>
          <p:cNvPr id="20" name="Shape 17"/>
          <p:cNvSpPr/>
          <p:nvPr/>
        </p:nvSpPr>
        <p:spPr>
          <a:xfrm>
            <a:off x="3291840" y="2926080"/>
            <a:ext cx="2651760" cy="1463040"/>
          </a:xfrm>
          <a:prstGeom prst="roundRect">
            <a:avLst>
              <a:gd name="adj" fmla="val 5000"/>
            </a:avLst>
          </a:prstGeom>
          <a:solidFill>
            <a:srgbClr val="EEF6F7"/>
          </a:solidFill>
          <a:ln w="9525">
            <a:solidFill>
              <a:srgbClr val="EEF6F7"/>
            </a:solidFill>
            <a:prstDash val="solid"/>
          </a:ln>
        </p:spPr>
      </p:sp>
      <p:sp>
        <p:nvSpPr>
          <p:cNvPr id="21" name="Shape 18"/>
          <p:cNvSpPr/>
          <p:nvPr/>
        </p:nvSpPr>
        <p:spPr>
          <a:xfrm>
            <a:off x="3429000" y="3063240"/>
            <a:ext cx="457200" cy="457200"/>
          </a:xfrm>
          <a:prstGeom prst="ellipse">
            <a:avLst/>
          </a:prstGeom>
          <a:solidFill>
            <a:srgbClr val="0F8B8D"/>
          </a:solidFill>
          <a:ln w="12700">
            <a:solidFill>
              <a:srgbClr val="FFFFFF"/>
            </a:solidFill>
            <a:prstDash val="solid"/>
          </a:ln>
        </p:spPr>
      </p:sp>
      <p:sp>
        <p:nvSpPr>
          <p:cNvPr id="22" name="Text 19"/>
          <p:cNvSpPr txBox="1"/>
          <p:nvPr/>
        </p:nvSpPr>
        <p:spPr>
          <a:xfrm>
            <a:off x="3429000" y="3063240"/>
            <a:ext cx="457200" cy="457200"/>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3" name="Text 20"/>
          <p:cNvSpPr txBox="1"/>
          <p:nvPr/>
        </p:nvSpPr>
        <p:spPr>
          <a:xfrm>
            <a:off x="3429000" y="3566160"/>
            <a:ext cx="2377440" cy="73152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Compare their performance</a:t>
            </a:r>
            <a:endParaRPr lang="en-US" sz="1400" dirty="0"/>
          </a:p>
        </p:txBody>
      </p:sp>
      <p:sp>
        <p:nvSpPr>
          <p:cNvPr id="24" name="Shape 21"/>
          <p:cNvSpPr/>
          <p:nvPr/>
        </p:nvSpPr>
        <p:spPr>
          <a:xfrm>
            <a:off x="6126480" y="2926080"/>
            <a:ext cx="2651760" cy="1463040"/>
          </a:xfrm>
          <a:prstGeom prst="roundRect">
            <a:avLst>
              <a:gd name="adj" fmla="val 5000"/>
            </a:avLst>
          </a:prstGeom>
          <a:solidFill>
            <a:srgbClr val="EEF6F7"/>
          </a:solidFill>
          <a:ln w="9525">
            <a:solidFill>
              <a:srgbClr val="EEF6F7"/>
            </a:solidFill>
            <a:prstDash val="solid"/>
          </a:ln>
        </p:spPr>
      </p:sp>
      <p:sp>
        <p:nvSpPr>
          <p:cNvPr id="25" name="Shape 22"/>
          <p:cNvSpPr/>
          <p:nvPr/>
        </p:nvSpPr>
        <p:spPr>
          <a:xfrm>
            <a:off x="6263640" y="3063240"/>
            <a:ext cx="457200" cy="457200"/>
          </a:xfrm>
          <a:prstGeom prst="ellipse">
            <a:avLst/>
          </a:prstGeom>
          <a:solidFill>
            <a:srgbClr val="6BBF59"/>
          </a:solidFill>
          <a:ln w="12700">
            <a:solidFill>
              <a:srgbClr val="FFFFFF"/>
            </a:solidFill>
            <a:prstDash val="solid"/>
          </a:ln>
        </p:spPr>
      </p:sp>
      <p:sp>
        <p:nvSpPr>
          <p:cNvPr id="26" name="Text 23"/>
          <p:cNvSpPr txBox="1"/>
          <p:nvPr/>
        </p:nvSpPr>
        <p:spPr>
          <a:xfrm>
            <a:off x="6263640" y="3063240"/>
            <a:ext cx="457200" cy="457200"/>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600" dirty="0"/>
          </a:p>
        </p:txBody>
      </p:sp>
      <p:sp>
        <p:nvSpPr>
          <p:cNvPr id="27" name="Text 24"/>
          <p:cNvSpPr txBox="1"/>
          <p:nvPr/>
        </p:nvSpPr>
        <p:spPr>
          <a:xfrm>
            <a:off x="6263640" y="3566160"/>
            <a:ext cx="2377440" cy="73152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Develop an interactive prediction interface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Dataset Description</a:t>
            </a:r>
            <a:endParaRPr lang="en-US" sz="2800" dirty="0"/>
          </a:p>
        </p:txBody>
      </p:sp>
      <p:sp>
        <p:nvSpPr>
          <p:cNvPr id="4" name="Shape 1"/>
          <p:cNvSpPr/>
          <p:nvPr/>
        </p:nvSpPr>
        <p:spPr>
          <a:xfrm>
            <a:off x="457200" y="1097280"/>
            <a:ext cx="1280160" cy="914400"/>
          </a:xfrm>
          <a:prstGeom prst="roundRect">
            <a:avLst>
              <a:gd name="adj" fmla="val 8000"/>
            </a:avLst>
          </a:prstGeom>
          <a:solidFill>
            <a:srgbClr val="0B2545"/>
          </a:solidFill>
          <a:ln w="9525">
            <a:solidFill>
              <a:srgbClr val="0B2545"/>
            </a:solidFill>
            <a:prstDash val="solid"/>
          </a:ln>
        </p:spPr>
      </p:sp>
      <p:sp>
        <p:nvSpPr>
          <p:cNvPr id="5" name="Text 2"/>
          <p:cNvSpPr txBox="1"/>
          <p:nvPr/>
        </p:nvSpPr>
        <p:spPr>
          <a:xfrm>
            <a:off x="457200" y="1143000"/>
            <a:ext cx="1280160" cy="457200"/>
          </a:xfrm>
          <a:prstGeom prst="rect">
            <a:avLst/>
          </a:prstGeom>
          <a:noFill/>
        </p:spPr>
        <p:txBody>
          <a:bodyPr wrap="square" lIns="635" tIns="635" rIns="635" bIns="635" rtlCol="0" anchor="t">
            <a:normAutofit/>
          </a:bodyPr>
          <a:lstStyle/>
          <a:p>
            <a:pPr marL="0" indent="0" algn="ctr">
              <a:buNone/>
            </a:pPr>
            <a:r>
              <a:rPr lang="en-US" sz="2000" b="1" dirty="0">
                <a:solidFill>
                  <a:srgbClr val="6BBF59"/>
                </a:solidFill>
                <a:latin typeface="Cambria" panose="02040503050406030204" pitchFamily="34" charset="0"/>
                <a:ea typeface="Cambria" panose="02040503050406030204" pitchFamily="34" charset="-122"/>
                <a:cs typeface="Cambria" panose="02040503050406030204" pitchFamily="34" charset="-120"/>
              </a:rPr>
              <a:t>~17,544</a:t>
            </a:r>
            <a:endParaRPr lang="en-US" sz="2000" dirty="0"/>
          </a:p>
        </p:txBody>
      </p:sp>
      <p:sp>
        <p:nvSpPr>
          <p:cNvPr id="6" name="Text 3"/>
          <p:cNvSpPr txBox="1"/>
          <p:nvPr/>
        </p:nvSpPr>
        <p:spPr>
          <a:xfrm>
            <a:off x="457200" y="1600200"/>
            <a:ext cx="1280160" cy="320040"/>
          </a:xfrm>
          <a:prstGeom prst="rect">
            <a:avLst/>
          </a:prstGeom>
          <a:noFill/>
        </p:spPr>
        <p:txBody>
          <a:bodyPr wrap="square" lIns="635" tIns="635" rIns="635" bIns="635" rtlCol="0" anchor="t">
            <a:normAutofit/>
          </a:bodyPr>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rows</a:t>
            </a:r>
            <a:endParaRPr lang="en-US" sz="1200" dirty="0"/>
          </a:p>
        </p:txBody>
      </p:sp>
      <p:sp>
        <p:nvSpPr>
          <p:cNvPr id="7" name="Shape 4"/>
          <p:cNvSpPr/>
          <p:nvPr/>
        </p:nvSpPr>
        <p:spPr>
          <a:xfrm>
            <a:off x="1874520" y="1097280"/>
            <a:ext cx="1280160" cy="914400"/>
          </a:xfrm>
          <a:prstGeom prst="roundRect">
            <a:avLst>
              <a:gd name="adj" fmla="val 8000"/>
            </a:avLst>
          </a:prstGeom>
          <a:solidFill>
            <a:srgbClr val="0B2545"/>
          </a:solidFill>
          <a:ln w="9525">
            <a:solidFill>
              <a:srgbClr val="0B2545"/>
            </a:solidFill>
            <a:prstDash val="solid"/>
          </a:ln>
        </p:spPr>
      </p:sp>
      <p:sp>
        <p:nvSpPr>
          <p:cNvPr id="8" name="Text 5"/>
          <p:cNvSpPr txBox="1"/>
          <p:nvPr/>
        </p:nvSpPr>
        <p:spPr>
          <a:xfrm>
            <a:off x="1874520" y="1143000"/>
            <a:ext cx="1280160" cy="457200"/>
          </a:xfrm>
          <a:prstGeom prst="rect">
            <a:avLst/>
          </a:prstGeom>
          <a:noFill/>
        </p:spPr>
        <p:txBody>
          <a:bodyPr wrap="square" lIns="635" tIns="635" rIns="635" bIns="635" rtlCol="0" anchor="t">
            <a:normAutofit/>
          </a:bodyPr>
          <a:lstStyle/>
          <a:p>
            <a:pPr marL="0" indent="0" algn="ctr">
              <a:buNone/>
            </a:pPr>
            <a:r>
              <a:rPr lang="en-US" sz="2000" b="1" dirty="0">
                <a:solidFill>
                  <a:srgbClr val="6BBF59"/>
                </a:solidFill>
                <a:latin typeface="Cambria" panose="02040503050406030204" pitchFamily="34" charset="0"/>
                <a:ea typeface="Cambria" panose="02040503050406030204" pitchFamily="34" charset="-122"/>
                <a:cs typeface="Cambria" panose="02040503050406030204" pitchFamily="34" charset="-120"/>
              </a:rPr>
              <a:t>22</a:t>
            </a:r>
            <a:endParaRPr lang="en-US" sz="2000" dirty="0"/>
          </a:p>
        </p:txBody>
      </p:sp>
      <p:sp>
        <p:nvSpPr>
          <p:cNvPr id="9" name="Text 6"/>
          <p:cNvSpPr txBox="1"/>
          <p:nvPr/>
        </p:nvSpPr>
        <p:spPr>
          <a:xfrm>
            <a:off x="1874520" y="1600200"/>
            <a:ext cx="1280160" cy="320040"/>
          </a:xfrm>
          <a:prstGeom prst="rect">
            <a:avLst/>
          </a:prstGeom>
          <a:noFill/>
        </p:spPr>
        <p:txBody>
          <a:bodyPr wrap="square" lIns="635" tIns="635" rIns="635" bIns="635" rtlCol="0" anchor="t">
            <a:normAutofit/>
          </a:bodyPr>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columns</a:t>
            </a:r>
            <a:endParaRPr lang="en-US" sz="1200" dirty="0"/>
          </a:p>
        </p:txBody>
      </p:sp>
      <p:sp>
        <p:nvSpPr>
          <p:cNvPr id="10" name="Shape 7"/>
          <p:cNvSpPr/>
          <p:nvPr/>
        </p:nvSpPr>
        <p:spPr>
          <a:xfrm>
            <a:off x="3291840" y="1097280"/>
            <a:ext cx="1280160" cy="914400"/>
          </a:xfrm>
          <a:prstGeom prst="roundRect">
            <a:avLst>
              <a:gd name="adj" fmla="val 8000"/>
            </a:avLst>
          </a:prstGeom>
          <a:solidFill>
            <a:srgbClr val="0B2545"/>
          </a:solidFill>
          <a:ln w="9525">
            <a:solidFill>
              <a:srgbClr val="0B2545"/>
            </a:solidFill>
            <a:prstDash val="solid"/>
          </a:ln>
        </p:spPr>
      </p:sp>
      <p:sp>
        <p:nvSpPr>
          <p:cNvPr id="11" name="Text 8"/>
          <p:cNvSpPr txBox="1"/>
          <p:nvPr/>
        </p:nvSpPr>
        <p:spPr>
          <a:xfrm>
            <a:off x="3291840" y="1143000"/>
            <a:ext cx="1280160" cy="457200"/>
          </a:xfrm>
          <a:prstGeom prst="rect">
            <a:avLst/>
          </a:prstGeom>
          <a:noFill/>
        </p:spPr>
        <p:txBody>
          <a:bodyPr wrap="square" lIns="635" tIns="635" rIns="635" bIns="635" rtlCol="0" anchor="t">
            <a:normAutofit/>
          </a:bodyPr>
          <a:lstStyle/>
          <a:p>
            <a:pPr marL="0" indent="0" algn="ctr">
              <a:buNone/>
            </a:pPr>
            <a:r>
              <a:rPr lang="en-US" sz="2000" b="1" dirty="0">
                <a:solidFill>
                  <a:srgbClr val="6BBF59"/>
                </a:solidFill>
                <a:latin typeface="Cambria" panose="02040503050406030204" pitchFamily="34" charset="0"/>
                <a:ea typeface="Cambria" panose="02040503050406030204" pitchFamily="34" charset="-122"/>
                <a:cs typeface="Cambria" panose="02040503050406030204" pitchFamily="34" charset="-120"/>
              </a:rPr>
              <a:t>7</a:t>
            </a:r>
            <a:endParaRPr lang="en-US" sz="2000" dirty="0"/>
          </a:p>
        </p:txBody>
      </p:sp>
      <p:sp>
        <p:nvSpPr>
          <p:cNvPr id="12" name="Text 9"/>
          <p:cNvSpPr txBox="1"/>
          <p:nvPr/>
        </p:nvSpPr>
        <p:spPr>
          <a:xfrm>
            <a:off x="3291840" y="1600200"/>
            <a:ext cx="1280160" cy="320040"/>
          </a:xfrm>
          <a:prstGeom prst="rect">
            <a:avLst/>
          </a:prstGeom>
          <a:noFill/>
        </p:spPr>
        <p:txBody>
          <a:bodyPr wrap="square" lIns="635" tIns="635" rIns="635" bIns="635" rtlCol="0" anchor="t">
            <a:normAutofit/>
          </a:bodyPr>
          <a:lstStyle/>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features</a:t>
            </a:r>
            <a:endParaRPr lang="en-US" sz="1200" dirty="0"/>
          </a:p>
        </p:txBody>
      </p:sp>
      <p:sp>
        <p:nvSpPr>
          <p:cNvPr id="13" name="Text 10"/>
          <p:cNvSpPr txBox="1"/>
          <p:nvPr/>
        </p:nvSpPr>
        <p:spPr>
          <a:xfrm>
            <a:off x="457200" y="2148840"/>
            <a:ext cx="4206240" cy="822960"/>
          </a:xfrm>
          <a:prstGeom prst="rect">
            <a:avLst/>
          </a:prstGeom>
          <a:noFill/>
        </p:spPr>
        <p:txBody>
          <a:bodyPr wrap="square" lIns="635" tIns="635" rIns="635" bIns="635" rtlCol="0" anchor="t">
            <a:normAutofit/>
          </a:bodyPr>
          <a:lstStyle/>
          <a:p>
            <a:pPr marL="0" indent="0" algn="l">
              <a:buNone/>
            </a:pPr>
            <a:r>
              <a:rPr lang="en-US" sz="1300" b="1" dirty="0">
                <a:solidFill>
                  <a:srgbClr val="0F8B8D"/>
                </a:solidFill>
                <a:latin typeface="Calibri" panose="020F0502020204030204" pitchFamily="34" charset="0"/>
                <a:ea typeface="Calibri" panose="020F0502020204030204" pitchFamily="34" charset="-122"/>
                <a:cs typeface="Calibri" panose="020F0502020204030204" pitchFamily="34" charset="-120"/>
              </a:rPr>
              <a:t>Input (X):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PM2.5, PM10, NO2, NH3, SO2, CO, O3</a:t>
            </a:r>
            <a:endParaRPr lang="en-US" sz="1300" dirty="0"/>
          </a:p>
          <a:p>
            <a:pPr marL="0" indent="0" algn="l">
              <a:buNone/>
            </a:pPr>
            <a:r>
              <a:rPr lang="en-US" sz="1300" b="1" dirty="0">
                <a:solidFill>
                  <a:srgbClr val="0F8B8D"/>
                </a:solidFill>
                <a:latin typeface="Calibri" panose="020F0502020204030204" pitchFamily="34" charset="0"/>
                <a:ea typeface="Calibri" panose="020F0502020204030204" pitchFamily="34" charset="-122"/>
                <a:cs typeface="Calibri" panose="020F0502020204030204" pitchFamily="34" charset="-120"/>
              </a:rPr>
              <a:t>Target (y):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Calculated AQI</a:t>
            </a:r>
            <a:endParaRPr lang="en-US" sz="1300" dirty="0"/>
          </a:p>
        </p:txBody>
      </p:sp>
      <p:graphicFrame>
        <p:nvGraphicFramePr>
          <p:cNvPr id="3" name="Table 0"/>
          <p:cNvGraphicFramePr>
            <a:graphicFrameLocks noGrp="1"/>
          </p:cNvGraphicFramePr>
          <p:nvPr/>
        </p:nvGraphicFramePr>
        <p:xfrm>
          <a:off x="457200" y="2926080"/>
          <a:ext cx="2651760" cy="1828800"/>
        </p:xfrm>
        <a:graphic>
          <a:graphicData uri="http://schemas.openxmlformats.org/drawingml/2006/table">
            <a:tbl>
              <a:tblPr/>
              <a:tblGrid>
                <a:gridCol w="1325880"/>
                <a:gridCol w="1325880"/>
              </a:tblGrid>
              <a:tr h="228600">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Pollutant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Unit*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PM2.5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µg/m³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PM10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µg/m³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NO2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µg/m³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NH3</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µg/m³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SO2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µg/m³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CO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22860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O3</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µg/m³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bl>
          </a:graphicData>
        </a:graphic>
      </p:graphicFrame>
      <p:sp>
        <p:nvSpPr>
          <p:cNvPr id="15" name="Text 11"/>
          <p:cNvSpPr txBox="1"/>
          <p:nvPr/>
        </p:nvSpPr>
        <p:spPr>
          <a:xfrm>
            <a:off x="457200" y="4754880"/>
            <a:ext cx="2743200" cy="228600"/>
          </a:xfrm>
          <a:prstGeom prst="rect">
            <a:avLst/>
          </a:prstGeom>
          <a:noFill/>
        </p:spPr>
        <p:txBody>
          <a:bodyPr wrap="square" lIns="635" tIns="635" rIns="635" bIns="635" rtlCol="0" anchor="t">
            <a:normAutofit/>
          </a:bodyPr>
          <a:lstStyle/>
          <a:p>
            <a:pPr marL="0" indent="0" algn="l">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*Confirm units against your dataset</a:t>
            </a:r>
            <a:endParaRPr lang="en-US" sz="1000" dirty="0"/>
          </a:p>
        </p:txBody>
      </p:sp>
      <p:sp>
        <p:nvSpPr>
          <p:cNvPr id="16" name="Text 12"/>
          <p:cNvSpPr txBox="1"/>
          <p:nvPr/>
        </p:nvSpPr>
        <p:spPr>
          <a:xfrm>
            <a:off x="3566160" y="1097280"/>
            <a:ext cx="5120640" cy="274320"/>
          </a:xfrm>
          <a:prstGeom prst="rect">
            <a:avLst/>
          </a:prstGeom>
          <a:noFill/>
        </p:spPr>
        <p:txBody>
          <a:bodyPr wrap="square" lIns="635" tIns="635" rIns="635" bIns="635" rtlCol="0" anchor="t">
            <a:normAutofit/>
          </a:bodyPr>
          <a:lstStyle/>
          <a:p>
            <a:pPr marL="0" indent="0" algn="l">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Sample rows (illustrative values only)</a:t>
            </a:r>
            <a:endParaRPr lang="en-US" sz="1300" dirty="0"/>
          </a:p>
        </p:txBody>
      </p:sp>
      <p:graphicFrame>
        <p:nvGraphicFramePr>
          <p:cNvPr id="14" name="Table 1"/>
          <p:cNvGraphicFramePr>
            <a:graphicFrameLocks noGrp="1"/>
          </p:cNvGraphicFramePr>
          <p:nvPr/>
        </p:nvGraphicFramePr>
        <p:xfrm>
          <a:off x="3566160" y="1417320"/>
          <a:ext cx="5120640" cy="1097280"/>
        </p:xfrm>
        <a:graphic>
          <a:graphicData uri="http://schemas.openxmlformats.org/drawingml/2006/table">
            <a:tbl>
              <a:tblPr/>
              <a:tblGrid>
                <a:gridCol w="731520"/>
                <a:gridCol w="731520"/>
                <a:gridCol w="731520"/>
                <a:gridCol w="731520"/>
                <a:gridCol w="731520"/>
                <a:gridCol w="731520"/>
                <a:gridCol w="731520"/>
              </a:tblGrid>
              <a:tr h="274320">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PM2.5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PM10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NH3</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O3</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r>
              <a:tr h="27432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45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90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28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0.9</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35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27432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82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150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40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14</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1.4</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48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30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65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22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9</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28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bl>
          </a:graphicData>
        </a:graphic>
      </p:graphicFrame>
      <p:sp>
        <p:nvSpPr>
          <p:cNvPr id="18" name="Shape 13"/>
          <p:cNvSpPr/>
          <p:nvPr/>
        </p:nvSpPr>
        <p:spPr>
          <a:xfrm>
            <a:off x="3566160" y="2834640"/>
            <a:ext cx="5120640" cy="1554480"/>
          </a:xfrm>
          <a:prstGeom prst="roundRect">
            <a:avLst>
              <a:gd name="adj" fmla="val 4706"/>
            </a:avLst>
          </a:prstGeom>
          <a:solidFill>
            <a:srgbClr val="FFF4DC"/>
          </a:solidFill>
          <a:ln w="9525">
            <a:solidFill>
              <a:srgbClr val="F2A541"/>
            </a:solidFill>
            <a:prstDash val="solid"/>
          </a:ln>
        </p:spPr>
      </p:sp>
      <p:sp>
        <p:nvSpPr>
          <p:cNvPr id="19" name="Text 14"/>
          <p:cNvSpPr txBox="1"/>
          <p:nvPr/>
        </p:nvSpPr>
        <p:spPr>
          <a:xfrm>
            <a:off x="3703320" y="2926080"/>
            <a:ext cx="4846320" cy="1371600"/>
          </a:xfrm>
          <a:prstGeom prst="rect">
            <a:avLst/>
          </a:prstGeom>
          <a:noFill/>
        </p:spPr>
        <p:txBody>
          <a:bodyPr wrap="square" lIns="635" tIns="635" rIns="635" bIns="635" rtlCol="0" anchor="ctr">
            <a:normAutofit/>
          </a:bodyPr>
          <a:lstStyle/>
          <a:p>
            <a:pPr marL="0" indent="0" algn="l">
              <a:buNone/>
            </a:pPr>
            <a:r>
              <a:rPr lang="en-US" sz="1400" b="1" dirty="0">
                <a:solidFill>
                  <a:srgbClr val="B45309"/>
                </a:solidFill>
                <a:latin typeface="Calibri" panose="020F0502020204030204" pitchFamily="34" charset="0"/>
                <a:ea typeface="Calibri" panose="020F0502020204030204" pitchFamily="34" charset="-122"/>
                <a:cs typeface="Calibri" panose="020F0502020204030204" pitchFamily="34" charset="-120"/>
              </a:rPr>
              <a:t>Important: </a:t>
            </a: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The original dataset has no directly recorded AQI column. AQI was calculated from the pollutant values and used as the target.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System Architecture / Workflow</a:t>
            </a:r>
            <a:endParaRPr lang="en-US" sz="2800" dirty="0"/>
          </a:p>
        </p:txBody>
      </p:sp>
      <p:sp>
        <p:nvSpPr>
          <p:cNvPr id="4" name="Shape 1"/>
          <p:cNvSpPr/>
          <p:nvPr/>
        </p:nvSpPr>
        <p:spPr>
          <a:xfrm>
            <a:off x="457200" y="1371600"/>
            <a:ext cx="1417320" cy="1005840"/>
          </a:xfrm>
          <a:prstGeom prst="roundRect">
            <a:avLst>
              <a:gd name="adj" fmla="val 9091"/>
            </a:avLst>
          </a:prstGeom>
          <a:solidFill>
            <a:srgbClr val="0F8B8D"/>
          </a:solidFill>
          <a:ln w="9525">
            <a:solidFill>
              <a:srgbClr val="0F8B8D"/>
            </a:solidFill>
            <a:prstDash val="solid"/>
          </a:ln>
          <a:effectLst>
            <a:outerShdw blurRad="50800" dist="25400" dir="5400000" algn="bl" rotWithShape="0">
              <a:srgbClr val="000000">
                <a:alpha val="15000"/>
              </a:srgbClr>
            </a:outerShdw>
          </a:effectLst>
        </p:spPr>
      </p:sp>
      <p:sp>
        <p:nvSpPr>
          <p:cNvPr id="5" name="Text 2"/>
          <p:cNvSpPr txBox="1"/>
          <p:nvPr/>
        </p:nvSpPr>
        <p:spPr>
          <a:xfrm>
            <a:off x="457200" y="137160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Dataset</a:t>
            </a:r>
            <a:endParaRPr lang="en-US" sz="1200" dirty="0"/>
          </a:p>
        </p:txBody>
      </p:sp>
      <p:sp>
        <p:nvSpPr>
          <p:cNvPr id="6" name="Text 3"/>
          <p:cNvSpPr txBox="1"/>
          <p:nvPr/>
        </p:nvSpPr>
        <p:spPr>
          <a:xfrm>
            <a:off x="1874520" y="164592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7" name="Shape 4"/>
          <p:cNvSpPr/>
          <p:nvPr/>
        </p:nvSpPr>
        <p:spPr>
          <a:xfrm>
            <a:off x="2148840" y="1371600"/>
            <a:ext cx="1417320" cy="1005840"/>
          </a:xfrm>
          <a:prstGeom prst="roundRect">
            <a:avLst>
              <a:gd name="adj" fmla="val 9091"/>
            </a:avLst>
          </a:prstGeom>
          <a:solidFill>
            <a:srgbClr val="0F8B8D"/>
          </a:solidFill>
          <a:ln w="9525">
            <a:solidFill>
              <a:srgbClr val="0F8B8D"/>
            </a:solidFill>
            <a:prstDash val="solid"/>
          </a:ln>
          <a:effectLst>
            <a:outerShdw blurRad="50800" dist="25400" dir="5400000" algn="bl" rotWithShape="0">
              <a:srgbClr val="000000">
                <a:alpha val="15000"/>
              </a:srgbClr>
            </a:outerShdw>
          </a:effectLst>
        </p:spPr>
      </p:sp>
      <p:sp>
        <p:nvSpPr>
          <p:cNvPr id="8" name="Text 5"/>
          <p:cNvSpPr txBox="1"/>
          <p:nvPr/>
        </p:nvSpPr>
        <p:spPr>
          <a:xfrm>
            <a:off x="2148840" y="137160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Preprocessing</a:t>
            </a:r>
            <a:endParaRPr lang="en-US" sz="1200" dirty="0"/>
          </a:p>
        </p:txBody>
      </p:sp>
      <p:sp>
        <p:nvSpPr>
          <p:cNvPr id="9" name="Text 6"/>
          <p:cNvSpPr txBox="1"/>
          <p:nvPr/>
        </p:nvSpPr>
        <p:spPr>
          <a:xfrm>
            <a:off x="3566160" y="164592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10" name="Shape 7"/>
          <p:cNvSpPr/>
          <p:nvPr/>
        </p:nvSpPr>
        <p:spPr>
          <a:xfrm>
            <a:off x="3840480" y="1371600"/>
            <a:ext cx="1417320" cy="1005840"/>
          </a:xfrm>
          <a:prstGeom prst="roundRect">
            <a:avLst>
              <a:gd name="adj" fmla="val 9091"/>
            </a:avLst>
          </a:prstGeom>
          <a:solidFill>
            <a:srgbClr val="6BBF59"/>
          </a:solidFill>
          <a:ln w="9525">
            <a:solidFill>
              <a:srgbClr val="6BBF59"/>
            </a:solidFill>
            <a:prstDash val="solid"/>
          </a:ln>
          <a:effectLst>
            <a:outerShdw blurRad="50800" dist="25400" dir="5400000" algn="bl" rotWithShape="0">
              <a:srgbClr val="000000">
                <a:alpha val="15000"/>
              </a:srgbClr>
            </a:outerShdw>
          </a:effectLst>
        </p:spPr>
      </p:sp>
      <p:sp>
        <p:nvSpPr>
          <p:cNvPr id="11" name="Text 8"/>
          <p:cNvSpPr txBox="1"/>
          <p:nvPr/>
        </p:nvSpPr>
        <p:spPr>
          <a:xfrm>
            <a:off x="3840480" y="137160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Missing-Value Handling</a:t>
            </a:r>
            <a:endParaRPr lang="en-US" sz="1200" dirty="0"/>
          </a:p>
        </p:txBody>
      </p:sp>
      <p:sp>
        <p:nvSpPr>
          <p:cNvPr id="12" name="Text 9"/>
          <p:cNvSpPr txBox="1"/>
          <p:nvPr/>
        </p:nvSpPr>
        <p:spPr>
          <a:xfrm>
            <a:off x="5257800" y="164592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13" name="Shape 10"/>
          <p:cNvSpPr/>
          <p:nvPr/>
        </p:nvSpPr>
        <p:spPr>
          <a:xfrm>
            <a:off x="5532120" y="1371600"/>
            <a:ext cx="1417320" cy="1005840"/>
          </a:xfrm>
          <a:prstGeom prst="roundRect">
            <a:avLst>
              <a:gd name="adj" fmla="val 9091"/>
            </a:avLst>
          </a:prstGeom>
          <a:solidFill>
            <a:srgbClr val="0F8B8D"/>
          </a:solidFill>
          <a:ln w="9525">
            <a:solidFill>
              <a:srgbClr val="0F8B8D"/>
            </a:solidFill>
            <a:prstDash val="solid"/>
          </a:ln>
          <a:effectLst>
            <a:outerShdw blurRad="50800" dist="25400" dir="5400000" algn="bl" rotWithShape="0">
              <a:srgbClr val="000000">
                <a:alpha val="15000"/>
              </a:srgbClr>
            </a:outerShdw>
          </a:effectLst>
        </p:spPr>
      </p:sp>
      <p:sp>
        <p:nvSpPr>
          <p:cNvPr id="14" name="Text 11"/>
          <p:cNvSpPr txBox="1"/>
          <p:nvPr/>
        </p:nvSpPr>
        <p:spPr>
          <a:xfrm>
            <a:off x="5532120" y="137160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Pollutant Selection</a:t>
            </a:r>
            <a:endParaRPr lang="en-US" sz="1200" dirty="0"/>
          </a:p>
        </p:txBody>
      </p:sp>
      <p:sp>
        <p:nvSpPr>
          <p:cNvPr id="15" name="Text 12"/>
          <p:cNvSpPr txBox="1"/>
          <p:nvPr/>
        </p:nvSpPr>
        <p:spPr>
          <a:xfrm>
            <a:off x="6949440" y="164592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16" name="Shape 13"/>
          <p:cNvSpPr/>
          <p:nvPr/>
        </p:nvSpPr>
        <p:spPr>
          <a:xfrm>
            <a:off x="7223760" y="1371600"/>
            <a:ext cx="1417320" cy="1005840"/>
          </a:xfrm>
          <a:prstGeom prst="roundRect">
            <a:avLst>
              <a:gd name="adj" fmla="val 9091"/>
            </a:avLst>
          </a:prstGeom>
          <a:solidFill>
            <a:srgbClr val="0F8B8D"/>
          </a:solidFill>
          <a:ln w="9525">
            <a:solidFill>
              <a:srgbClr val="0F8B8D"/>
            </a:solidFill>
            <a:prstDash val="solid"/>
          </a:ln>
          <a:effectLst>
            <a:outerShdw blurRad="50800" dist="25400" dir="5400000" algn="bl" rotWithShape="0">
              <a:srgbClr val="000000">
                <a:alpha val="15000"/>
              </a:srgbClr>
            </a:outerShdw>
          </a:effectLst>
        </p:spPr>
      </p:sp>
      <p:sp>
        <p:nvSpPr>
          <p:cNvPr id="17" name="Text 14"/>
          <p:cNvSpPr txBox="1"/>
          <p:nvPr/>
        </p:nvSpPr>
        <p:spPr>
          <a:xfrm>
            <a:off x="7223760" y="137160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AQI Target Calculation</a:t>
            </a:r>
            <a:endParaRPr lang="en-US" sz="1200" dirty="0"/>
          </a:p>
        </p:txBody>
      </p:sp>
      <p:sp>
        <p:nvSpPr>
          <p:cNvPr id="18" name="Shape 15"/>
          <p:cNvSpPr/>
          <p:nvPr/>
        </p:nvSpPr>
        <p:spPr>
          <a:xfrm>
            <a:off x="7223760" y="3108960"/>
            <a:ext cx="1417320" cy="1005840"/>
          </a:xfrm>
          <a:prstGeom prst="roundRect">
            <a:avLst>
              <a:gd name="adj" fmla="val 9091"/>
            </a:avLst>
          </a:prstGeom>
          <a:solidFill>
            <a:srgbClr val="6BBF59"/>
          </a:solidFill>
          <a:ln w="9525">
            <a:solidFill>
              <a:srgbClr val="6BBF59"/>
            </a:solidFill>
            <a:prstDash val="solid"/>
          </a:ln>
          <a:effectLst>
            <a:outerShdw blurRad="50800" dist="25400" dir="5400000" algn="bl" rotWithShape="0">
              <a:srgbClr val="000000">
                <a:alpha val="15000"/>
              </a:srgbClr>
            </a:outerShdw>
          </a:effectLst>
        </p:spPr>
      </p:sp>
      <p:sp>
        <p:nvSpPr>
          <p:cNvPr id="19" name="Text 16"/>
          <p:cNvSpPr txBox="1"/>
          <p:nvPr/>
        </p:nvSpPr>
        <p:spPr>
          <a:xfrm>
            <a:off x="7223760" y="310896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Train-Test Split</a:t>
            </a:r>
            <a:endParaRPr lang="en-US" sz="1200" dirty="0"/>
          </a:p>
        </p:txBody>
      </p:sp>
      <p:sp>
        <p:nvSpPr>
          <p:cNvPr id="20" name="Text 17"/>
          <p:cNvSpPr txBox="1"/>
          <p:nvPr/>
        </p:nvSpPr>
        <p:spPr>
          <a:xfrm rot="10800000">
            <a:off x="6949440" y="338328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21" name="Shape 18"/>
          <p:cNvSpPr/>
          <p:nvPr/>
        </p:nvSpPr>
        <p:spPr>
          <a:xfrm>
            <a:off x="5532120" y="3108960"/>
            <a:ext cx="1417320" cy="1005840"/>
          </a:xfrm>
          <a:prstGeom prst="roundRect">
            <a:avLst>
              <a:gd name="adj" fmla="val 9091"/>
            </a:avLst>
          </a:prstGeom>
          <a:solidFill>
            <a:srgbClr val="1D4E89"/>
          </a:solidFill>
          <a:ln w="9525">
            <a:solidFill>
              <a:srgbClr val="1D4E89"/>
            </a:solidFill>
            <a:prstDash val="solid"/>
          </a:ln>
          <a:effectLst>
            <a:outerShdw blurRad="50800" dist="25400" dir="5400000" algn="bl" rotWithShape="0">
              <a:srgbClr val="000000">
                <a:alpha val="15000"/>
              </a:srgbClr>
            </a:outerShdw>
          </a:effectLst>
        </p:spPr>
      </p:sp>
      <p:sp>
        <p:nvSpPr>
          <p:cNvPr id="22" name="Text 19"/>
          <p:cNvSpPr txBox="1"/>
          <p:nvPr/>
        </p:nvSpPr>
        <p:spPr>
          <a:xfrm>
            <a:off x="5532120" y="310896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Scaling</a:t>
            </a:r>
            <a:endParaRPr lang="en-US" sz="1200" dirty="0"/>
          </a:p>
        </p:txBody>
      </p:sp>
      <p:sp>
        <p:nvSpPr>
          <p:cNvPr id="23" name="Text 20"/>
          <p:cNvSpPr txBox="1"/>
          <p:nvPr/>
        </p:nvSpPr>
        <p:spPr>
          <a:xfrm rot="10800000">
            <a:off x="5257800" y="338328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24" name="Shape 21"/>
          <p:cNvSpPr/>
          <p:nvPr/>
        </p:nvSpPr>
        <p:spPr>
          <a:xfrm>
            <a:off x="3840480" y="3108960"/>
            <a:ext cx="1417320" cy="1005840"/>
          </a:xfrm>
          <a:prstGeom prst="roundRect">
            <a:avLst>
              <a:gd name="adj" fmla="val 9091"/>
            </a:avLst>
          </a:prstGeom>
          <a:solidFill>
            <a:srgbClr val="1D4E89"/>
          </a:solidFill>
          <a:ln w="9525">
            <a:solidFill>
              <a:srgbClr val="1D4E89"/>
            </a:solidFill>
            <a:prstDash val="solid"/>
          </a:ln>
          <a:effectLst>
            <a:outerShdw blurRad="50800" dist="25400" dir="5400000" algn="bl" rotWithShape="0">
              <a:srgbClr val="000000">
                <a:alpha val="15000"/>
              </a:srgbClr>
            </a:outerShdw>
          </a:effectLst>
        </p:spPr>
      </p:sp>
      <p:sp>
        <p:nvSpPr>
          <p:cNvPr id="25" name="Text 22"/>
          <p:cNvSpPr txBox="1"/>
          <p:nvPr/>
        </p:nvSpPr>
        <p:spPr>
          <a:xfrm>
            <a:off x="3840480" y="310896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Ridge and Lasso Regression</a:t>
            </a:r>
            <a:endParaRPr lang="en-US" sz="1200" dirty="0"/>
          </a:p>
        </p:txBody>
      </p:sp>
      <p:sp>
        <p:nvSpPr>
          <p:cNvPr id="26" name="Text 23"/>
          <p:cNvSpPr txBox="1"/>
          <p:nvPr/>
        </p:nvSpPr>
        <p:spPr>
          <a:xfrm rot="10800000">
            <a:off x="3566160" y="338328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27" name="Shape 24"/>
          <p:cNvSpPr/>
          <p:nvPr/>
        </p:nvSpPr>
        <p:spPr>
          <a:xfrm>
            <a:off x="2148840" y="3108960"/>
            <a:ext cx="1417320" cy="1005840"/>
          </a:xfrm>
          <a:prstGeom prst="roundRect">
            <a:avLst>
              <a:gd name="adj" fmla="val 9091"/>
            </a:avLst>
          </a:prstGeom>
          <a:solidFill>
            <a:srgbClr val="6BBF59"/>
          </a:solidFill>
          <a:ln w="9525">
            <a:solidFill>
              <a:srgbClr val="6BBF59"/>
            </a:solidFill>
            <a:prstDash val="solid"/>
          </a:ln>
          <a:effectLst>
            <a:outerShdw blurRad="50800" dist="25400" dir="5400000" algn="bl" rotWithShape="0">
              <a:srgbClr val="000000">
                <a:alpha val="15000"/>
              </a:srgbClr>
            </a:outerShdw>
          </a:effectLst>
        </p:spPr>
      </p:sp>
      <p:sp>
        <p:nvSpPr>
          <p:cNvPr id="28" name="Text 25"/>
          <p:cNvSpPr txBox="1"/>
          <p:nvPr/>
        </p:nvSpPr>
        <p:spPr>
          <a:xfrm>
            <a:off x="2148840" y="310896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Evaluation</a:t>
            </a:r>
            <a:endParaRPr lang="en-US" sz="1200" dirty="0"/>
          </a:p>
        </p:txBody>
      </p:sp>
      <p:sp>
        <p:nvSpPr>
          <p:cNvPr id="29" name="Text 26"/>
          <p:cNvSpPr txBox="1"/>
          <p:nvPr/>
        </p:nvSpPr>
        <p:spPr>
          <a:xfrm rot="10800000">
            <a:off x="1874520" y="3383280"/>
            <a:ext cx="274320" cy="457200"/>
          </a:xfrm>
          <a:prstGeom prst="rect">
            <a:avLst/>
          </a:prstGeom>
          <a:noFill/>
        </p:spPr>
        <p:txBody>
          <a:bodyPr wrap="square" lIns="0" tIns="0" rIns="0" bIns="0" rtlCol="0" anchor="ctr"/>
          <a:lstStyle/>
          <a:p>
            <a:pPr marL="0" indent="0" algn="ctr">
              <a:buNone/>
            </a:pPr>
            <a:r>
              <a:rPr lang="en-US" sz="1600" dirty="0">
                <a:solidFill>
                  <a:srgbClr val="0B2545"/>
                </a:solidFill>
              </a:rPr>
              <a:t>➜</a:t>
            </a:r>
            <a:endParaRPr lang="en-US" sz="1600" dirty="0"/>
          </a:p>
        </p:txBody>
      </p:sp>
      <p:sp>
        <p:nvSpPr>
          <p:cNvPr id="30" name="Shape 27"/>
          <p:cNvSpPr/>
          <p:nvPr/>
        </p:nvSpPr>
        <p:spPr>
          <a:xfrm>
            <a:off x="457200" y="3108960"/>
            <a:ext cx="1417320" cy="1005840"/>
          </a:xfrm>
          <a:prstGeom prst="roundRect">
            <a:avLst>
              <a:gd name="adj" fmla="val 9091"/>
            </a:avLst>
          </a:prstGeom>
          <a:solidFill>
            <a:srgbClr val="1D4E89"/>
          </a:solidFill>
          <a:ln w="9525">
            <a:solidFill>
              <a:srgbClr val="1D4E89"/>
            </a:solidFill>
            <a:prstDash val="solid"/>
          </a:ln>
          <a:effectLst>
            <a:outerShdw blurRad="50800" dist="25400" dir="5400000" algn="bl" rotWithShape="0">
              <a:srgbClr val="000000">
                <a:alpha val="15000"/>
              </a:srgbClr>
            </a:outerShdw>
          </a:effectLst>
        </p:spPr>
      </p:sp>
      <p:sp>
        <p:nvSpPr>
          <p:cNvPr id="31" name="Text 28"/>
          <p:cNvSpPr txBox="1"/>
          <p:nvPr/>
        </p:nvSpPr>
        <p:spPr>
          <a:xfrm>
            <a:off x="457200" y="3108960"/>
            <a:ext cx="1417320" cy="10058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Interactive AQI Prediction Interface</a:t>
            </a:r>
            <a:endParaRPr lang="en-US" sz="1200" dirty="0"/>
          </a:p>
        </p:txBody>
      </p:sp>
      <p:sp>
        <p:nvSpPr>
          <p:cNvPr id="32" name="Text 29"/>
          <p:cNvSpPr txBox="1"/>
          <p:nvPr/>
        </p:nvSpPr>
        <p:spPr>
          <a:xfrm>
            <a:off x="1005840" y="2377440"/>
            <a:ext cx="365760" cy="731520"/>
          </a:xfrm>
          <a:prstGeom prst="rect">
            <a:avLst/>
          </a:prstGeom>
          <a:noFill/>
        </p:spPr>
        <p:txBody>
          <a:bodyPr wrap="square" rtlCol="0" anchor="ctr"/>
          <a:lstStyle/>
          <a:p>
            <a:pPr marL="0" indent="0">
              <a:buNone/>
            </a:pPr>
            <a:r>
              <a:rPr lang="en-US" sz="100" dirty="0">
                <a:solidFill>
                  <a:srgbClr val="FFFFFF"/>
                </a:solidFill>
              </a:rPr>
              <a:t>⬇</a:t>
            </a:r>
            <a:endParaRPr lang="en-US" sz="100" dirty="0"/>
          </a:p>
        </p:txBody>
      </p:sp>
      <p:sp>
        <p:nvSpPr>
          <p:cNvPr id="33" name="Text 30"/>
          <p:cNvSpPr txBox="1"/>
          <p:nvPr/>
        </p:nvSpPr>
        <p:spPr>
          <a:xfrm>
            <a:off x="457200" y="4480560"/>
            <a:ext cx="8229600" cy="274320"/>
          </a:xfrm>
          <a:prstGeom prst="rect">
            <a:avLst/>
          </a:prstGeom>
          <a:noFill/>
        </p:spPr>
        <p:txBody>
          <a:bodyPr wrap="square" lIns="635" tIns="635" rIns="635" bIns="635" rtlCol="0" anchor="t">
            <a:normAutofit/>
          </a:bodyPr>
          <a:lstStyle/>
          <a:p>
            <a:pPr marL="0" indent="0" algn="l">
              <a:buNone/>
            </a:pPr>
            <a:r>
              <a:rPr lang="en-US" sz="1100" i="1" dirty="0">
                <a:solidFill>
                  <a:srgbClr val="64748B"/>
                </a:solidFill>
                <a:latin typeface="Calibri" panose="020F0502020204030204" pitchFamily="34" charset="0"/>
                <a:ea typeface="Calibri" panose="020F0502020204030204" pitchFamily="34" charset="-122"/>
                <a:cs typeface="Calibri" panose="020F0502020204030204" pitchFamily="34" charset="-120"/>
              </a:rPr>
              <a:t>Row 1 flows left → right; row 2 flows right → left.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Data Preprocessing</a:t>
            </a:r>
            <a:endParaRPr lang="en-US" sz="2800" dirty="0"/>
          </a:p>
        </p:txBody>
      </p:sp>
      <p:sp>
        <p:nvSpPr>
          <p:cNvPr id="4" name="Shape 1"/>
          <p:cNvSpPr/>
          <p:nvPr/>
        </p:nvSpPr>
        <p:spPr>
          <a:xfrm>
            <a:off x="457200" y="1097280"/>
            <a:ext cx="411480" cy="411480"/>
          </a:xfrm>
          <a:prstGeom prst="ellipse">
            <a:avLst/>
          </a:prstGeom>
          <a:solidFill>
            <a:srgbClr val="0F8B8D"/>
          </a:solidFill>
          <a:ln w="12700">
            <a:solidFill>
              <a:srgbClr val="FFFFFF"/>
            </a:solidFill>
            <a:prstDash val="solid"/>
          </a:ln>
        </p:spPr>
      </p:sp>
      <p:sp>
        <p:nvSpPr>
          <p:cNvPr id="5" name="Text 2"/>
          <p:cNvSpPr txBox="1"/>
          <p:nvPr/>
        </p:nvSpPr>
        <p:spPr>
          <a:xfrm>
            <a:off x="457200" y="1097280"/>
            <a:ext cx="411480" cy="411480"/>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6" name="Text 3"/>
          <p:cNvSpPr txBox="1"/>
          <p:nvPr/>
        </p:nvSpPr>
        <p:spPr>
          <a:xfrm>
            <a:off x="1005840" y="1097280"/>
            <a:ext cx="3383280" cy="411480"/>
          </a:xfrm>
          <a:prstGeom prst="rect">
            <a:avLst/>
          </a:prstGeom>
          <a:noFill/>
        </p:spPr>
        <p:txBody>
          <a:bodyPr wrap="square" lIns="635" tIns="635" rIns="635" bIns="635" rtlCol="0" anchor="ctr">
            <a:normAutofit/>
          </a:bodyPr>
          <a:lstStyle/>
          <a:p>
            <a:pPr marL="0" indent="0" algn="l">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Load Excel with Pandas</a:t>
            </a:r>
            <a:endParaRPr lang="en-US" sz="1400" dirty="0"/>
          </a:p>
        </p:txBody>
      </p:sp>
      <p:sp>
        <p:nvSpPr>
          <p:cNvPr id="7" name="Shape 4"/>
          <p:cNvSpPr/>
          <p:nvPr/>
        </p:nvSpPr>
        <p:spPr>
          <a:xfrm>
            <a:off x="457200" y="1664208"/>
            <a:ext cx="411480" cy="411480"/>
          </a:xfrm>
          <a:prstGeom prst="ellipse">
            <a:avLst/>
          </a:prstGeom>
          <a:solidFill>
            <a:srgbClr val="0F8B8D"/>
          </a:solidFill>
          <a:ln w="12700">
            <a:solidFill>
              <a:srgbClr val="FFFFFF"/>
            </a:solidFill>
            <a:prstDash val="solid"/>
          </a:ln>
        </p:spPr>
      </p:sp>
      <p:sp>
        <p:nvSpPr>
          <p:cNvPr id="8" name="Text 5"/>
          <p:cNvSpPr txBox="1"/>
          <p:nvPr/>
        </p:nvSpPr>
        <p:spPr>
          <a:xfrm>
            <a:off x="457200" y="1664208"/>
            <a:ext cx="411480" cy="411480"/>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9" name="Text 6"/>
          <p:cNvSpPr txBox="1"/>
          <p:nvPr/>
        </p:nvSpPr>
        <p:spPr>
          <a:xfrm>
            <a:off x="1005840" y="1664208"/>
            <a:ext cx="3383280" cy="411480"/>
          </a:xfrm>
          <a:prstGeom prst="rect">
            <a:avLst/>
          </a:prstGeom>
          <a:noFill/>
        </p:spPr>
        <p:txBody>
          <a:bodyPr wrap="square" lIns="635" tIns="635" rIns="635" bIns="635" rtlCol="0" anchor="ctr">
            <a:normAutofit/>
          </a:bodyPr>
          <a:lstStyle/>
          <a:p>
            <a:pPr marL="0" indent="0" algn="l">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Inspect shape, columns, data types</a:t>
            </a:r>
            <a:endParaRPr lang="en-US" sz="1400" dirty="0"/>
          </a:p>
        </p:txBody>
      </p:sp>
      <p:sp>
        <p:nvSpPr>
          <p:cNvPr id="10" name="Shape 7"/>
          <p:cNvSpPr/>
          <p:nvPr/>
        </p:nvSpPr>
        <p:spPr>
          <a:xfrm>
            <a:off x="457200" y="2231136"/>
            <a:ext cx="411480" cy="411480"/>
          </a:xfrm>
          <a:prstGeom prst="ellipse">
            <a:avLst/>
          </a:prstGeom>
          <a:solidFill>
            <a:srgbClr val="0F8B8D"/>
          </a:solidFill>
          <a:ln w="12700">
            <a:solidFill>
              <a:srgbClr val="FFFFFF"/>
            </a:solidFill>
            <a:prstDash val="solid"/>
          </a:ln>
        </p:spPr>
      </p:sp>
      <p:sp>
        <p:nvSpPr>
          <p:cNvPr id="11" name="Text 8"/>
          <p:cNvSpPr txBox="1"/>
          <p:nvPr/>
        </p:nvSpPr>
        <p:spPr>
          <a:xfrm>
            <a:off x="457200" y="2231136"/>
            <a:ext cx="411480" cy="411480"/>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2" name="Text 9"/>
          <p:cNvSpPr txBox="1"/>
          <p:nvPr/>
        </p:nvSpPr>
        <p:spPr>
          <a:xfrm>
            <a:off x="1005840" y="2231136"/>
            <a:ext cx="3383280" cy="411480"/>
          </a:xfrm>
          <a:prstGeom prst="rect">
            <a:avLst/>
          </a:prstGeom>
          <a:noFill/>
        </p:spPr>
        <p:txBody>
          <a:bodyPr wrap="square" lIns="635" tIns="635" rIns="635" bIns="635" rtlCol="0" anchor="ctr">
            <a:normAutofit/>
          </a:bodyPr>
          <a:lstStyle/>
          <a:p>
            <a:pPr marL="0" indent="0" algn="l">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Rename pollutant columns</a:t>
            </a:r>
            <a:endParaRPr lang="en-US" sz="1400" dirty="0"/>
          </a:p>
        </p:txBody>
      </p:sp>
      <p:sp>
        <p:nvSpPr>
          <p:cNvPr id="13" name="Shape 10"/>
          <p:cNvSpPr/>
          <p:nvPr/>
        </p:nvSpPr>
        <p:spPr>
          <a:xfrm>
            <a:off x="457200" y="2798064"/>
            <a:ext cx="411480" cy="411480"/>
          </a:xfrm>
          <a:prstGeom prst="ellipse">
            <a:avLst/>
          </a:prstGeom>
          <a:solidFill>
            <a:srgbClr val="0F8B8D"/>
          </a:solidFill>
          <a:ln w="12700">
            <a:solidFill>
              <a:srgbClr val="FFFFFF"/>
            </a:solidFill>
            <a:prstDash val="solid"/>
          </a:ln>
        </p:spPr>
      </p:sp>
      <p:sp>
        <p:nvSpPr>
          <p:cNvPr id="14" name="Text 11"/>
          <p:cNvSpPr txBox="1"/>
          <p:nvPr/>
        </p:nvSpPr>
        <p:spPr>
          <a:xfrm>
            <a:off x="457200" y="2798064"/>
            <a:ext cx="411480" cy="411480"/>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15" name="Text 12"/>
          <p:cNvSpPr txBox="1"/>
          <p:nvPr/>
        </p:nvSpPr>
        <p:spPr>
          <a:xfrm>
            <a:off x="1005840" y="2798064"/>
            <a:ext cx="3383280" cy="411480"/>
          </a:xfrm>
          <a:prstGeom prst="rect">
            <a:avLst/>
          </a:prstGeom>
          <a:noFill/>
        </p:spPr>
        <p:txBody>
          <a:bodyPr wrap="square" lIns="635" tIns="635" rIns="635" bIns="635" rtlCol="0" anchor="ctr">
            <a:normAutofit/>
          </a:bodyPr>
          <a:lstStyle/>
          <a:p>
            <a:pPr marL="0" indent="0" algn="l">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Convert values to numeric</a:t>
            </a:r>
            <a:endParaRPr lang="en-US" sz="1400" dirty="0"/>
          </a:p>
        </p:txBody>
      </p:sp>
      <p:sp>
        <p:nvSpPr>
          <p:cNvPr id="16" name="Shape 13"/>
          <p:cNvSpPr/>
          <p:nvPr/>
        </p:nvSpPr>
        <p:spPr>
          <a:xfrm>
            <a:off x="457200" y="3364992"/>
            <a:ext cx="411480" cy="411480"/>
          </a:xfrm>
          <a:prstGeom prst="ellipse">
            <a:avLst/>
          </a:prstGeom>
          <a:solidFill>
            <a:srgbClr val="0F8B8D"/>
          </a:solidFill>
          <a:ln w="12700">
            <a:solidFill>
              <a:srgbClr val="FFFFFF"/>
            </a:solidFill>
            <a:prstDash val="solid"/>
          </a:ln>
        </p:spPr>
      </p:sp>
      <p:sp>
        <p:nvSpPr>
          <p:cNvPr id="17" name="Text 14"/>
          <p:cNvSpPr txBox="1"/>
          <p:nvPr/>
        </p:nvSpPr>
        <p:spPr>
          <a:xfrm>
            <a:off x="457200" y="3364992"/>
            <a:ext cx="411480" cy="411480"/>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18" name="Text 15"/>
          <p:cNvSpPr txBox="1"/>
          <p:nvPr/>
        </p:nvSpPr>
        <p:spPr>
          <a:xfrm>
            <a:off x="1005840" y="3364992"/>
            <a:ext cx="3383280" cy="411480"/>
          </a:xfrm>
          <a:prstGeom prst="rect">
            <a:avLst/>
          </a:prstGeom>
          <a:noFill/>
        </p:spPr>
        <p:txBody>
          <a:bodyPr wrap="square" lIns="635" tIns="635" rIns="635" bIns="635" rtlCol="0" anchor="ctr">
            <a:normAutofit/>
          </a:bodyPr>
          <a:lstStyle/>
          <a:p>
            <a:pPr marL="0" indent="0" algn="l">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Fill missing values (median)</a:t>
            </a:r>
            <a:endParaRPr lang="en-US" sz="1400" dirty="0"/>
          </a:p>
        </p:txBody>
      </p:sp>
      <p:sp>
        <p:nvSpPr>
          <p:cNvPr id="19" name="Shape 16"/>
          <p:cNvSpPr/>
          <p:nvPr/>
        </p:nvSpPr>
        <p:spPr>
          <a:xfrm>
            <a:off x="457200" y="3931920"/>
            <a:ext cx="411480" cy="411480"/>
          </a:xfrm>
          <a:prstGeom prst="ellipse">
            <a:avLst/>
          </a:prstGeom>
          <a:solidFill>
            <a:srgbClr val="0F8B8D"/>
          </a:solidFill>
          <a:ln w="12700">
            <a:solidFill>
              <a:srgbClr val="FFFFFF"/>
            </a:solidFill>
            <a:prstDash val="solid"/>
          </a:ln>
        </p:spPr>
      </p:sp>
      <p:sp>
        <p:nvSpPr>
          <p:cNvPr id="20" name="Text 17"/>
          <p:cNvSpPr txBox="1"/>
          <p:nvPr/>
        </p:nvSpPr>
        <p:spPr>
          <a:xfrm>
            <a:off x="457200" y="3931920"/>
            <a:ext cx="411480" cy="411480"/>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400" dirty="0"/>
          </a:p>
        </p:txBody>
      </p:sp>
      <p:sp>
        <p:nvSpPr>
          <p:cNvPr id="21" name="Text 18"/>
          <p:cNvSpPr txBox="1"/>
          <p:nvPr/>
        </p:nvSpPr>
        <p:spPr>
          <a:xfrm>
            <a:off x="1005840" y="3931920"/>
            <a:ext cx="3383280" cy="411480"/>
          </a:xfrm>
          <a:prstGeom prst="rect">
            <a:avLst/>
          </a:prstGeom>
          <a:noFill/>
        </p:spPr>
        <p:txBody>
          <a:bodyPr wrap="square" lIns="635" tIns="635" rIns="635" bIns="635" rtlCol="0" anchor="ctr">
            <a:normAutofit/>
          </a:bodyPr>
          <a:lstStyle/>
          <a:p>
            <a:pPr marL="0" indent="0" algn="l">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Select the 7 pollutant features</a:t>
            </a:r>
            <a:endParaRPr lang="en-US" sz="1400" dirty="0"/>
          </a:p>
        </p:txBody>
      </p:sp>
      <p:sp>
        <p:nvSpPr>
          <p:cNvPr id="22" name="Shape 19"/>
          <p:cNvSpPr/>
          <p:nvPr/>
        </p:nvSpPr>
        <p:spPr>
          <a:xfrm>
            <a:off x="4663440" y="1097280"/>
            <a:ext cx="4023360" cy="3383280"/>
          </a:xfrm>
          <a:prstGeom prst="roundRect">
            <a:avLst>
              <a:gd name="adj" fmla="val 1351"/>
            </a:avLst>
          </a:prstGeom>
          <a:solidFill>
            <a:srgbClr val="0F172A"/>
          </a:solidFill>
          <a:ln w="9525">
            <a:solidFill>
              <a:srgbClr val="0F172A"/>
            </a:solidFill>
            <a:prstDash val="solid"/>
          </a:ln>
        </p:spPr>
      </p:sp>
      <p:sp>
        <p:nvSpPr>
          <p:cNvPr id="23" name="Text 20"/>
          <p:cNvSpPr txBox="1"/>
          <p:nvPr/>
        </p:nvSpPr>
        <p:spPr>
          <a:xfrm>
            <a:off x="4800600" y="1234440"/>
            <a:ext cx="3749040" cy="3108960"/>
          </a:xfrm>
          <a:prstGeom prst="rect">
            <a:avLst/>
          </a:prstGeom>
          <a:noFill/>
        </p:spPr>
        <p:txBody>
          <a:bodyPr wrap="square" lIns="635" tIns="635" rIns="635" bIns="635" rtlCol="0" anchor="t">
            <a:normAutofit/>
          </a:bodyPr>
          <a:lstStyle/>
          <a:p>
            <a:pPr marL="0" indent="0" algn="l">
              <a:buNone/>
            </a:pPr>
            <a:r>
              <a:rPr lang="en-US" sz="1200" dirty="0">
                <a:solidFill>
                  <a:srgbClr val="A7F3D0"/>
                </a:solidFill>
                <a:latin typeface="Courier New" panose="02070309020205020404" pitchFamily="34" charset="0"/>
                <a:ea typeface="Courier New" panose="02070309020205020404" pitchFamily="34" charset="-122"/>
                <a:cs typeface="Courier New" panose="02070309020205020404" pitchFamily="34" charset="-120"/>
              </a:rPr>
              <a:t>df = pd.read_excel("data.xlsx")</a:t>
            </a:r>
            <a:endParaRPr lang="en-US" sz="1200" dirty="0"/>
          </a:p>
          <a:p>
            <a:pPr marL="0" indent="0" algn="l">
              <a:buNone/>
            </a:pPr>
            <a:r>
              <a:rPr lang="en-US" sz="1200" dirty="0">
                <a:solidFill>
                  <a:srgbClr val="A7F3D0"/>
                </a:solidFill>
                <a:latin typeface="Courier New" panose="02070309020205020404" pitchFamily="34" charset="0"/>
                <a:ea typeface="Courier New" panose="02070309020205020404" pitchFamily="34" charset="-122"/>
                <a:cs typeface="Courier New" panose="02070309020205020404" pitchFamily="34" charset="-120"/>
              </a:rPr>
              <a:t>print(df.shape)</a:t>
            </a:r>
            <a:endParaRPr lang="en-US" sz="1200" dirty="0"/>
          </a:p>
          <a:p>
            <a:pPr marL="0" indent="0" algn="l">
              <a:buNone/>
            </a:pPr>
            <a:r>
              <a:rPr lang="en-US" sz="1200" dirty="0">
                <a:solidFill>
                  <a:srgbClr val="A7F3D0"/>
                </a:solidFill>
                <a:latin typeface="Courier New" panose="02070309020205020404" pitchFamily="34" charset="0"/>
                <a:ea typeface="Courier New" panose="02070309020205020404" pitchFamily="34" charset="-122"/>
                <a:cs typeface="Courier New" panose="02070309020205020404" pitchFamily="34" charset="-120"/>
              </a:rPr>
              <a:t>df[cols] = df[cols].apply(</a:t>
            </a:r>
            <a:endParaRPr lang="en-US" sz="1200" dirty="0"/>
          </a:p>
          <a:p>
            <a:pPr marL="0" indent="0" algn="l">
              <a:buNone/>
            </a:pPr>
            <a:r>
              <a:rPr lang="en-US" sz="1200" dirty="0">
                <a:solidFill>
                  <a:srgbClr val="A7F3D0"/>
                </a:solidFill>
                <a:latin typeface="Courier New" panose="02070309020205020404" pitchFamily="34" charset="0"/>
                <a:ea typeface="Courier New" panose="02070309020205020404" pitchFamily="34" charset="-122"/>
                <a:cs typeface="Courier New" panose="02070309020205020404" pitchFamily="34" charset="-120"/>
              </a:rPr>
              <a:t>    pd.to_numeric, errors="coerce")</a:t>
            </a:r>
            <a:endParaRPr lang="en-US" sz="1200" dirty="0"/>
          </a:p>
          <a:p>
            <a:pPr marL="0" indent="0" algn="l">
              <a:buNone/>
            </a:pPr>
            <a:r>
              <a:rPr lang="en-US" sz="1200" dirty="0">
                <a:solidFill>
                  <a:srgbClr val="A7F3D0"/>
                </a:solidFill>
                <a:latin typeface="Courier New" panose="02070309020205020404" pitchFamily="34" charset="0"/>
                <a:ea typeface="Courier New" panose="02070309020205020404" pitchFamily="34" charset="-122"/>
                <a:cs typeface="Courier New" panose="02070309020205020404" pitchFamily="34" charset="-120"/>
              </a:rPr>
              <a:t>df[cols] = df[cols].fillna(</a:t>
            </a:r>
            <a:endParaRPr lang="en-US" sz="1200" dirty="0"/>
          </a:p>
          <a:p>
            <a:pPr marL="0" indent="0" algn="l">
              <a:buNone/>
            </a:pPr>
            <a:r>
              <a:rPr lang="en-US" sz="1200" dirty="0">
                <a:solidFill>
                  <a:srgbClr val="A7F3D0"/>
                </a:solidFill>
                <a:latin typeface="Courier New" panose="02070309020205020404" pitchFamily="34" charset="0"/>
                <a:ea typeface="Courier New" panose="02070309020205020404" pitchFamily="34" charset="-122"/>
                <a:cs typeface="Courier New" panose="02070309020205020404" pitchFamily="34" charset="-120"/>
              </a:rPr>
              <a:t>    df[cols].median())</a:t>
            </a:r>
            <a:endParaRPr lang="en-US" sz="1200" dirty="0"/>
          </a:p>
        </p:txBody>
      </p:sp>
      <p:sp>
        <p:nvSpPr>
          <p:cNvPr id="24" name="Text 21"/>
          <p:cNvSpPr txBox="1"/>
          <p:nvPr/>
        </p:nvSpPr>
        <p:spPr>
          <a:xfrm>
            <a:off x="4663440" y="4526280"/>
            <a:ext cx="4023360" cy="274320"/>
          </a:xfrm>
          <a:prstGeom prst="rect">
            <a:avLst/>
          </a:prstGeom>
          <a:noFill/>
        </p:spPr>
        <p:txBody>
          <a:bodyPr wrap="square" lIns="635" tIns="635" rIns="635" bIns="635" rtlCol="0" anchor="t">
            <a:normAutofit/>
          </a:bodyPr>
          <a:lstStyle/>
          <a:p>
            <a:pPr marL="0" indent="0" algn="l">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Code is a simplified illustration.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AQI Calculation</a:t>
            </a:r>
            <a:endParaRPr lang="en-US" sz="2800" dirty="0"/>
          </a:p>
        </p:txBody>
      </p:sp>
      <p:sp>
        <p:nvSpPr>
          <p:cNvPr id="4" name="Shape 1"/>
          <p:cNvSpPr/>
          <p:nvPr/>
        </p:nvSpPr>
        <p:spPr>
          <a:xfrm>
            <a:off x="457200" y="1005840"/>
            <a:ext cx="4937760" cy="731520"/>
          </a:xfrm>
          <a:prstGeom prst="roundRect">
            <a:avLst>
              <a:gd name="adj" fmla="val 10000"/>
            </a:avLst>
          </a:prstGeom>
          <a:solidFill>
            <a:srgbClr val="0B2545"/>
          </a:solidFill>
          <a:ln w="9525">
            <a:solidFill>
              <a:srgbClr val="0B2545"/>
            </a:solidFill>
            <a:prstDash val="solid"/>
          </a:ln>
        </p:spPr>
      </p:sp>
      <p:sp>
        <p:nvSpPr>
          <p:cNvPr id="5" name="Text 2"/>
          <p:cNvSpPr txBox="1"/>
          <p:nvPr/>
        </p:nvSpPr>
        <p:spPr>
          <a:xfrm>
            <a:off x="548640" y="1005840"/>
            <a:ext cx="4754880" cy="731520"/>
          </a:xfrm>
          <a:prstGeom prst="rect">
            <a:avLst/>
          </a:prstGeom>
          <a:noFill/>
        </p:spPr>
        <p:txBody>
          <a:bodyPr wrap="square" lIns="635" tIns="635" rIns="635" bIns="635" rtlCol="0" anchor="ctr">
            <a:normAutofit/>
          </a:bodyPr>
          <a:lstStyle/>
          <a:p>
            <a:pPr marL="0" indent="0" algn="l">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Sub-index = [(I_high − I_low) / (C_high − C_low)] × (C − C_low) + I_low</a:t>
            </a:r>
            <a:endParaRPr lang="en-US" sz="1400" dirty="0"/>
          </a:p>
        </p:txBody>
      </p:sp>
      <p:sp>
        <p:nvSpPr>
          <p:cNvPr id="6" name="Text 3"/>
          <p:cNvSpPr txBox="1"/>
          <p:nvPr/>
        </p:nvSpPr>
        <p:spPr>
          <a:xfrm>
            <a:off x="457200" y="1874520"/>
            <a:ext cx="4937760" cy="155448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C = measured pollutant concentration</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C_low, C_high = breakpoint range containing C</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I_low, I_high = AQI values for that range</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Overall AQI = max(all 7 sub-indices)</a:t>
            </a:r>
            <a:endParaRPr lang="en-US" sz="1300" dirty="0"/>
          </a:p>
        </p:txBody>
      </p:sp>
      <p:sp>
        <p:nvSpPr>
          <p:cNvPr id="7" name="Shape 4"/>
          <p:cNvSpPr/>
          <p:nvPr/>
        </p:nvSpPr>
        <p:spPr>
          <a:xfrm>
            <a:off x="5669280" y="1005840"/>
            <a:ext cx="3017520" cy="438912"/>
          </a:xfrm>
          <a:prstGeom prst="roundRect">
            <a:avLst>
              <a:gd name="adj" fmla="val 12500"/>
            </a:avLst>
          </a:prstGeom>
          <a:solidFill>
            <a:srgbClr val="00A651"/>
          </a:solidFill>
          <a:ln w="9525">
            <a:solidFill>
              <a:srgbClr val="00A651"/>
            </a:solidFill>
            <a:prstDash val="solid"/>
          </a:ln>
        </p:spPr>
      </p:sp>
      <p:sp>
        <p:nvSpPr>
          <p:cNvPr id="8" name="Text 5"/>
          <p:cNvSpPr txBox="1"/>
          <p:nvPr/>
        </p:nvSpPr>
        <p:spPr>
          <a:xfrm>
            <a:off x="5760720" y="1005840"/>
            <a:ext cx="1645920" cy="438912"/>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Good</a:t>
            </a:r>
            <a:endParaRPr lang="en-US" sz="1300" dirty="0"/>
          </a:p>
        </p:txBody>
      </p:sp>
      <p:sp>
        <p:nvSpPr>
          <p:cNvPr id="9" name="Text 6"/>
          <p:cNvSpPr txBox="1"/>
          <p:nvPr/>
        </p:nvSpPr>
        <p:spPr>
          <a:xfrm>
            <a:off x="7315200" y="1005840"/>
            <a:ext cx="1280160" cy="438912"/>
          </a:xfrm>
          <a:prstGeom prst="rect">
            <a:avLst/>
          </a:prstGeom>
          <a:noFill/>
        </p:spPr>
        <p:txBody>
          <a:bodyPr wrap="square" lIns="635" tIns="635" rIns="635" bIns="635" rtlCol="0" anchor="ctr">
            <a:normAutofit/>
          </a:bodyPr>
          <a:lstStyle/>
          <a:p>
            <a:pPr marL="0" indent="0" algn="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0–50</a:t>
            </a:r>
            <a:endParaRPr lang="en-US" sz="1300" dirty="0"/>
          </a:p>
        </p:txBody>
      </p:sp>
      <p:sp>
        <p:nvSpPr>
          <p:cNvPr id="10" name="Shape 7"/>
          <p:cNvSpPr/>
          <p:nvPr/>
        </p:nvSpPr>
        <p:spPr>
          <a:xfrm>
            <a:off x="5669280" y="1508760"/>
            <a:ext cx="3017520" cy="438912"/>
          </a:xfrm>
          <a:prstGeom prst="roundRect">
            <a:avLst>
              <a:gd name="adj" fmla="val 12500"/>
            </a:avLst>
          </a:prstGeom>
          <a:solidFill>
            <a:srgbClr val="6BBF59"/>
          </a:solidFill>
          <a:ln w="9525">
            <a:solidFill>
              <a:srgbClr val="6BBF59"/>
            </a:solidFill>
            <a:prstDash val="solid"/>
          </a:ln>
        </p:spPr>
      </p:sp>
      <p:sp>
        <p:nvSpPr>
          <p:cNvPr id="11" name="Text 8"/>
          <p:cNvSpPr txBox="1"/>
          <p:nvPr/>
        </p:nvSpPr>
        <p:spPr>
          <a:xfrm>
            <a:off x="5760720" y="1508760"/>
            <a:ext cx="1645920" cy="438912"/>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Satisfactory</a:t>
            </a:r>
            <a:endParaRPr lang="en-US" sz="1300" dirty="0"/>
          </a:p>
        </p:txBody>
      </p:sp>
      <p:sp>
        <p:nvSpPr>
          <p:cNvPr id="12" name="Text 9"/>
          <p:cNvSpPr txBox="1"/>
          <p:nvPr/>
        </p:nvSpPr>
        <p:spPr>
          <a:xfrm>
            <a:off x="7315200" y="1508760"/>
            <a:ext cx="1280160" cy="438912"/>
          </a:xfrm>
          <a:prstGeom prst="rect">
            <a:avLst/>
          </a:prstGeom>
          <a:noFill/>
        </p:spPr>
        <p:txBody>
          <a:bodyPr wrap="square" lIns="635" tIns="635" rIns="635" bIns="635" rtlCol="0" anchor="ctr">
            <a:normAutofit/>
          </a:bodyPr>
          <a:lstStyle/>
          <a:p>
            <a:pPr marL="0" indent="0" algn="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51–100</a:t>
            </a:r>
            <a:endParaRPr lang="en-US" sz="1300" dirty="0"/>
          </a:p>
        </p:txBody>
      </p:sp>
      <p:sp>
        <p:nvSpPr>
          <p:cNvPr id="13" name="Shape 10"/>
          <p:cNvSpPr/>
          <p:nvPr/>
        </p:nvSpPr>
        <p:spPr>
          <a:xfrm>
            <a:off x="5669280" y="2011680"/>
            <a:ext cx="3017520" cy="438912"/>
          </a:xfrm>
          <a:prstGeom prst="roundRect">
            <a:avLst>
              <a:gd name="adj" fmla="val 12500"/>
            </a:avLst>
          </a:prstGeom>
          <a:solidFill>
            <a:srgbClr val="E8C13A"/>
          </a:solidFill>
          <a:ln w="9525">
            <a:solidFill>
              <a:srgbClr val="E8C13A"/>
            </a:solidFill>
            <a:prstDash val="solid"/>
          </a:ln>
        </p:spPr>
      </p:sp>
      <p:sp>
        <p:nvSpPr>
          <p:cNvPr id="14" name="Text 11"/>
          <p:cNvSpPr txBox="1"/>
          <p:nvPr/>
        </p:nvSpPr>
        <p:spPr>
          <a:xfrm>
            <a:off x="5760720" y="2011680"/>
            <a:ext cx="1645920" cy="438912"/>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1300" dirty="0"/>
          </a:p>
        </p:txBody>
      </p:sp>
      <p:sp>
        <p:nvSpPr>
          <p:cNvPr id="15" name="Text 12"/>
          <p:cNvSpPr txBox="1"/>
          <p:nvPr/>
        </p:nvSpPr>
        <p:spPr>
          <a:xfrm>
            <a:off x="7315200" y="2011680"/>
            <a:ext cx="1280160" cy="438912"/>
          </a:xfrm>
          <a:prstGeom prst="rect">
            <a:avLst/>
          </a:prstGeom>
          <a:noFill/>
        </p:spPr>
        <p:txBody>
          <a:bodyPr wrap="square" lIns="635" tIns="635" rIns="635" bIns="635" rtlCol="0" anchor="ctr">
            <a:normAutofit/>
          </a:bodyPr>
          <a:lstStyle/>
          <a:p>
            <a:pPr marL="0" indent="0" algn="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101–200</a:t>
            </a:r>
            <a:endParaRPr lang="en-US" sz="1300" dirty="0"/>
          </a:p>
        </p:txBody>
      </p:sp>
      <p:sp>
        <p:nvSpPr>
          <p:cNvPr id="16" name="Shape 13"/>
          <p:cNvSpPr/>
          <p:nvPr/>
        </p:nvSpPr>
        <p:spPr>
          <a:xfrm>
            <a:off x="5669280" y="2514600"/>
            <a:ext cx="3017520" cy="438912"/>
          </a:xfrm>
          <a:prstGeom prst="roundRect">
            <a:avLst>
              <a:gd name="adj" fmla="val 12500"/>
            </a:avLst>
          </a:prstGeom>
          <a:solidFill>
            <a:srgbClr val="F29B38"/>
          </a:solidFill>
          <a:ln w="9525">
            <a:solidFill>
              <a:srgbClr val="F29B38"/>
            </a:solidFill>
            <a:prstDash val="solid"/>
          </a:ln>
        </p:spPr>
      </p:sp>
      <p:sp>
        <p:nvSpPr>
          <p:cNvPr id="17" name="Text 14"/>
          <p:cNvSpPr txBox="1"/>
          <p:nvPr/>
        </p:nvSpPr>
        <p:spPr>
          <a:xfrm>
            <a:off x="5760720" y="2514600"/>
            <a:ext cx="1645920" cy="438912"/>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Poor</a:t>
            </a:r>
            <a:endParaRPr lang="en-US" sz="1300" dirty="0"/>
          </a:p>
        </p:txBody>
      </p:sp>
      <p:sp>
        <p:nvSpPr>
          <p:cNvPr id="18" name="Text 15"/>
          <p:cNvSpPr txBox="1"/>
          <p:nvPr/>
        </p:nvSpPr>
        <p:spPr>
          <a:xfrm>
            <a:off x="7315200" y="2514600"/>
            <a:ext cx="1280160" cy="438912"/>
          </a:xfrm>
          <a:prstGeom prst="rect">
            <a:avLst/>
          </a:prstGeom>
          <a:noFill/>
        </p:spPr>
        <p:txBody>
          <a:bodyPr wrap="square" lIns="635" tIns="635" rIns="635" bIns="635" rtlCol="0" anchor="ctr">
            <a:normAutofit/>
          </a:bodyPr>
          <a:lstStyle/>
          <a:p>
            <a:pPr marL="0" indent="0" algn="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201–300</a:t>
            </a:r>
            <a:endParaRPr lang="en-US" sz="1300" dirty="0"/>
          </a:p>
        </p:txBody>
      </p:sp>
      <p:sp>
        <p:nvSpPr>
          <p:cNvPr id="19" name="Shape 16"/>
          <p:cNvSpPr/>
          <p:nvPr/>
        </p:nvSpPr>
        <p:spPr>
          <a:xfrm>
            <a:off x="5669280" y="3017520"/>
            <a:ext cx="3017520" cy="438912"/>
          </a:xfrm>
          <a:prstGeom prst="roundRect">
            <a:avLst>
              <a:gd name="adj" fmla="val 12500"/>
            </a:avLst>
          </a:prstGeom>
          <a:solidFill>
            <a:srgbClr val="D9534F"/>
          </a:solidFill>
          <a:ln w="9525">
            <a:solidFill>
              <a:srgbClr val="D9534F"/>
            </a:solidFill>
            <a:prstDash val="solid"/>
          </a:ln>
        </p:spPr>
      </p:sp>
      <p:sp>
        <p:nvSpPr>
          <p:cNvPr id="20" name="Text 17"/>
          <p:cNvSpPr txBox="1"/>
          <p:nvPr/>
        </p:nvSpPr>
        <p:spPr>
          <a:xfrm>
            <a:off x="5760720" y="3017520"/>
            <a:ext cx="1645920" cy="438912"/>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Very Poor</a:t>
            </a:r>
            <a:endParaRPr lang="en-US" sz="1300" dirty="0"/>
          </a:p>
        </p:txBody>
      </p:sp>
      <p:sp>
        <p:nvSpPr>
          <p:cNvPr id="21" name="Text 18"/>
          <p:cNvSpPr txBox="1"/>
          <p:nvPr/>
        </p:nvSpPr>
        <p:spPr>
          <a:xfrm>
            <a:off x="7315200" y="3017520"/>
            <a:ext cx="1280160" cy="438912"/>
          </a:xfrm>
          <a:prstGeom prst="rect">
            <a:avLst/>
          </a:prstGeom>
          <a:noFill/>
        </p:spPr>
        <p:txBody>
          <a:bodyPr wrap="square" lIns="635" tIns="635" rIns="635" bIns="635" rtlCol="0" anchor="ctr">
            <a:normAutofit/>
          </a:bodyPr>
          <a:lstStyle/>
          <a:p>
            <a:pPr marL="0" indent="0" algn="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301–400</a:t>
            </a:r>
            <a:endParaRPr lang="en-US" sz="1300" dirty="0"/>
          </a:p>
        </p:txBody>
      </p:sp>
      <p:sp>
        <p:nvSpPr>
          <p:cNvPr id="22" name="Shape 19"/>
          <p:cNvSpPr/>
          <p:nvPr/>
        </p:nvSpPr>
        <p:spPr>
          <a:xfrm>
            <a:off x="5669280" y="3520440"/>
            <a:ext cx="3017520" cy="438912"/>
          </a:xfrm>
          <a:prstGeom prst="roundRect">
            <a:avLst>
              <a:gd name="adj" fmla="val 12500"/>
            </a:avLst>
          </a:prstGeom>
          <a:solidFill>
            <a:srgbClr val="8B1E3F"/>
          </a:solidFill>
          <a:ln w="9525">
            <a:solidFill>
              <a:srgbClr val="8B1E3F"/>
            </a:solidFill>
            <a:prstDash val="solid"/>
          </a:ln>
        </p:spPr>
      </p:sp>
      <p:sp>
        <p:nvSpPr>
          <p:cNvPr id="23" name="Text 20"/>
          <p:cNvSpPr txBox="1"/>
          <p:nvPr/>
        </p:nvSpPr>
        <p:spPr>
          <a:xfrm>
            <a:off x="5760720" y="3520440"/>
            <a:ext cx="1645920" cy="438912"/>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Severe</a:t>
            </a:r>
            <a:endParaRPr lang="en-US" sz="1300" dirty="0"/>
          </a:p>
        </p:txBody>
      </p:sp>
      <p:sp>
        <p:nvSpPr>
          <p:cNvPr id="24" name="Text 21"/>
          <p:cNvSpPr txBox="1"/>
          <p:nvPr/>
        </p:nvSpPr>
        <p:spPr>
          <a:xfrm>
            <a:off x="7315200" y="3520440"/>
            <a:ext cx="1280160" cy="438912"/>
          </a:xfrm>
          <a:prstGeom prst="rect">
            <a:avLst/>
          </a:prstGeom>
          <a:noFill/>
        </p:spPr>
        <p:txBody>
          <a:bodyPr wrap="square" lIns="635" tIns="635" rIns="635" bIns="635" rtlCol="0" anchor="ctr">
            <a:normAutofit/>
          </a:bodyPr>
          <a:lstStyle/>
          <a:p>
            <a:pPr marL="0" indent="0" algn="r">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401–500</a:t>
            </a:r>
            <a:endParaRPr lang="en-US" sz="1300" dirty="0"/>
          </a:p>
        </p:txBody>
      </p:sp>
      <p:sp>
        <p:nvSpPr>
          <p:cNvPr id="25" name="Shape 22"/>
          <p:cNvSpPr/>
          <p:nvPr/>
        </p:nvSpPr>
        <p:spPr>
          <a:xfrm>
            <a:off x="457200" y="3566160"/>
            <a:ext cx="8229600" cy="914400"/>
          </a:xfrm>
          <a:prstGeom prst="roundRect">
            <a:avLst>
              <a:gd name="adj" fmla="val 8000"/>
            </a:avLst>
          </a:prstGeom>
          <a:solidFill>
            <a:srgbClr val="FFF4DC"/>
          </a:solidFill>
          <a:ln w="9525">
            <a:solidFill>
              <a:srgbClr val="F2A541"/>
            </a:solidFill>
            <a:prstDash val="solid"/>
          </a:ln>
        </p:spPr>
      </p:sp>
      <p:sp>
        <p:nvSpPr>
          <p:cNvPr id="26" name="Text 23"/>
          <p:cNvSpPr txBox="1"/>
          <p:nvPr/>
        </p:nvSpPr>
        <p:spPr>
          <a:xfrm>
            <a:off x="594360" y="3566160"/>
            <a:ext cx="7955280" cy="914400"/>
          </a:xfrm>
          <a:prstGeom prst="rect">
            <a:avLst/>
          </a:prstGeom>
          <a:noFill/>
        </p:spPr>
        <p:txBody>
          <a:bodyPr wrap="square" lIns="635" tIns="635" rIns="635" bIns="635" rtlCol="0" anchor="ctr">
            <a:normAutofit/>
          </a:bodyPr>
          <a:lstStyle/>
          <a:p>
            <a:pPr marL="0" indent="0" algn="l">
              <a:buNone/>
            </a:pPr>
            <a:r>
              <a:rPr lang="en-US" sz="1300" b="1" dirty="0">
                <a:solidFill>
                  <a:srgbClr val="B45309"/>
                </a:solidFill>
                <a:latin typeface="Calibri" panose="020F0502020204030204" pitchFamily="34" charset="0"/>
                <a:ea typeface="Calibri" panose="020F0502020204030204" pitchFamily="34" charset="-122"/>
                <a:cs typeface="Calibri" panose="020F0502020204030204" pitchFamily="34" charset="-120"/>
              </a:rPr>
              <a:t>Note: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Target is a calculated AQI, not an independently measured AQI. This implementation is not claimed to be officially validated against all CPCB requirements.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Train-Test Split and Feature Scaling</a:t>
            </a:r>
            <a:endParaRPr lang="en-US" sz="2800" dirty="0"/>
          </a:p>
        </p:txBody>
      </p:sp>
      <p:sp>
        <p:nvSpPr>
          <p:cNvPr id="4" name="Shape 1"/>
          <p:cNvSpPr/>
          <p:nvPr/>
        </p:nvSpPr>
        <p:spPr>
          <a:xfrm>
            <a:off x="457200" y="1097280"/>
            <a:ext cx="6583680" cy="640080"/>
          </a:xfrm>
          <a:prstGeom prst="roundRect">
            <a:avLst>
              <a:gd name="adj" fmla="val 7143"/>
            </a:avLst>
          </a:prstGeom>
          <a:solidFill>
            <a:srgbClr val="0F8B8D"/>
          </a:solidFill>
          <a:ln w="9525">
            <a:solidFill>
              <a:srgbClr val="0F8B8D"/>
            </a:solidFill>
            <a:prstDash val="solid"/>
          </a:ln>
        </p:spPr>
      </p:sp>
      <p:sp>
        <p:nvSpPr>
          <p:cNvPr id="5" name="Shape 2"/>
          <p:cNvSpPr/>
          <p:nvPr/>
        </p:nvSpPr>
        <p:spPr>
          <a:xfrm>
            <a:off x="7040880" y="1097280"/>
            <a:ext cx="1645920" cy="640080"/>
          </a:xfrm>
          <a:prstGeom prst="roundRect">
            <a:avLst>
              <a:gd name="adj" fmla="val 7143"/>
            </a:avLst>
          </a:prstGeom>
          <a:solidFill>
            <a:srgbClr val="6BBF59"/>
          </a:solidFill>
          <a:ln w="9525">
            <a:solidFill>
              <a:srgbClr val="6BBF59"/>
            </a:solidFill>
            <a:prstDash val="solid"/>
          </a:ln>
        </p:spPr>
      </p:sp>
      <p:sp>
        <p:nvSpPr>
          <p:cNvPr id="6" name="Text 3"/>
          <p:cNvSpPr txBox="1"/>
          <p:nvPr/>
        </p:nvSpPr>
        <p:spPr>
          <a:xfrm>
            <a:off x="457200" y="1097280"/>
            <a:ext cx="6583680" cy="640080"/>
          </a:xfrm>
          <a:prstGeom prst="rect">
            <a:avLst/>
          </a:prstGeom>
          <a:noFill/>
        </p:spPr>
        <p:txBody>
          <a:bodyPr wrap="square" lIns="635" tIns="635" rIns="635" bIns="635" rtlCol="0" anchor="ctr">
            <a:normAutofit/>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Training set – 80%</a:t>
            </a:r>
            <a:endParaRPr lang="en-US" sz="1600" dirty="0"/>
          </a:p>
        </p:txBody>
      </p:sp>
      <p:sp>
        <p:nvSpPr>
          <p:cNvPr id="7" name="Text 4"/>
          <p:cNvSpPr txBox="1"/>
          <p:nvPr/>
        </p:nvSpPr>
        <p:spPr>
          <a:xfrm>
            <a:off x="7040880" y="1097280"/>
            <a:ext cx="1645920" cy="640080"/>
          </a:xfrm>
          <a:prstGeom prst="rect">
            <a:avLst/>
          </a:prstGeom>
          <a:noFill/>
        </p:spPr>
        <p:txBody>
          <a:bodyPr wrap="square" lIns="635" tIns="635" rIns="635" bIns="635" rtlCol="0" anchor="ctr">
            <a:normAutofit/>
          </a:bodyP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Test – 20%</a:t>
            </a:r>
            <a:endParaRPr lang="en-US" sz="1400" dirty="0"/>
          </a:p>
        </p:txBody>
      </p:sp>
      <p:sp>
        <p:nvSpPr>
          <p:cNvPr id="8" name="Shape 5"/>
          <p:cNvSpPr/>
          <p:nvPr/>
        </p:nvSpPr>
        <p:spPr>
          <a:xfrm>
            <a:off x="457200" y="2011680"/>
            <a:ext cx="4023360" cy="2468880"/>
          </a:xfrm>
          <a:prstGeom prst="roundRect">
            <a:avLst>
              <a:gd name="adj" fmla="val 2963"/>
            </a:avLst>
          </a:prstGeom>
          <a:solidFill>
            <a:srgbClr val="EEF6F7"/>
          </a:solidFill>
          <a:ln w="9525">
            <a:solidFill>
              <a:srgbClr val="EEF6F7"/>
            </a:solidFill>
            <a:prstDash val="solid"/>
          </a:ln>
        </p:spPr>
      </p:sp>
      <p:sp>
        <p:nvSpPr>
          <p:cNvPr id="9" name="Shape 6"/>
          <p:cNvSpPr/>
          <p:nvPr/>
        </p:nvSpPr>
        <p:spPr>
          <a:xfrm>
            <a:off x="594360" y="2148840"/>
            <a:ext cx="109728" cy="109728"/>
          </a:xfrm>
          <a:prstGeom prst="rect">
            <a:avLst/>
          </a:prstGeom>
          <a:solidFill>
            <a:srgbClr val="0F8B8D"/>
          </a:solidFill>
          <a:ln w="9525">
            <a:solidFill>
              <a:srgbClr val="0F8B8D"/>
            </a:solidFill>
            <a:prstDash val="solid"/>
          </a:ln>
        </p:spPr>
      </p:sp>
      <p:sp>
        <p:nvSpPr>
          <p:cNvPr id="10" name="Text 7"/>
          <p:cNvSpPr txBox="1"/>
          <p:nvPr/>
        </p:nvSpPr>
        <p:spPr>
          <a:xfrm>
            <a:off x="749808" y="2084832"/>
            <a:ext cx="36576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Why a separate test set?</a:t>
            </a:r>
            <a:endParaRPr lang="en-US" sz="1500" dirty="0"/>
          </a:p>
        </p:txBody>
      </p:sp>
      <p:sp>
        <p:nvSpPr>
          <p:cNvPr id="11" name="Text 8"/>
          <p:cNvSpPr txBox="1"/>
          <p:nvPr/>
        </p:nvSpPr>
        <p:spPr>
          <a:xfrm>
            <a:off x="594360" y="2423160"/>
            <a:ext cx="3749040" cy="196596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Checks performance on unseen data</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Detects overfitting</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Gives a fair evaluation</a:t>
            </a:r>
            <a:endParaRPr lang="en-US" sz="1300" dirty="0"/>
          </a:p>
        </p:txBody>
      </p:sp>
      <p:sp>
        <p:nvSpPr>
          <p:cNvPr id="12" name="Shape 9"/>
          <p:cNvSpPr/>
          <p:nvPr/>
        </p:nvSpPr>
        <p:spPr>
          <a:xfrm>
            <a:off x="4663440" y="2011680"/>
            <a:ext cx="4023360" cy="2468880"/>
          </a:xfrm>
          <a:prstGeom prst="roundRect">
            <a:avLst>
              <a:gd name="adj" fmla="val 2963"/>
            </a:avLst>
          </a:prstGeom>
          <a:solidFill>
            <a:srgbClr val="EEF6F7"/>
          </a:solidFill>
          <a:ln w="9525">
            <a:solidFill>
              <a:srgbClr val="EEF6F7"/>
            </a:solidFill>
            <a:prstDash val="solid"/>
          </a:ln>
        </p:spPr>
      </p:sp>
      <p:sp>
        <p:nvSpPr>
          <p:cNvPr id="13" name="Shape 10"/>
          <p:cNvSpPr/>
          <p:nvPr/>
        </p:nvSpPr>
        <p:spPr>
          <a:xfrm>
            <a:off x="4800600" y="2148840"/>
            <a:ext cx="109728" cy="109728"/>
          </a:xfrm>
          <a:prstGeom prst="rect">
            <a:avLst/>
          </a:prstGeom>
          <a:solidFill>
            <a:srgbClr val="6BBF59"/>
          </a:solidFill>
          <a:ln w="9525">
            <a:solidFill>
              <a:srgbClr val="6BBF59"/>
            </a:solidFill>
            <a:prstDash val="solid"/>
          </a:ln>
        </p:spPr>
      </p:sp>
      <p:sp>
        <p:nvSpPr>
          <p:cNvPr id="14" name="Text 11"/>
          <p:cNvSpPr txBox="1"/>
          <p:nvPr/>
        </p:nvSpPr>
        <p:spPr>
          <a:xfrm>
            <a:off x="4956048" y="2084832"/>
            <a:ext cx="36576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StandardScaler</a:t>
            </a:r>
            <a:endParaRPr lang="en-US" sz="1500" dirty="0"/>
          </a:p>
        </p:txBody>
      </p:sp>
      <p:sp>
        <p:nvSpPr>
          <p:cNvPr id="15" name="Text 12"/>
          <p:cNvSpPr txBox="1"/>
          <p:nvPr/>
        </p:nvSpPr>
        <p:spPr>
          <a:xfrm>
            <a:off x="4800600" y="2423160"/>
            <a:ext cx="3749040" cy="196596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z = (x − mean) / std</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Puts all pollutants on one scale</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Keeps penalty fair across features</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Fit on train, then apply to test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Ridge Regression</a:t>
            </a:r>
            <a:endParaRPr lang="en-US" sz="2800" dirty="0"/>
          </a:p>
        </p:txBody>
      </p:sp>
      <p:sp>
        <p:nvSpPr>
          <p:cNvPr id="4" name="Shape 1"/>
          <p:cNvSpPr/>
          <p:nvPr/>
        </p:nvSpPr>
        <p:spPr>
          <a:xfrm>
            <a:off x="457200" y="1005840"/>
            <a:ext cx="8229600" cy="731520"/>
          </a:xfrm>
          <a:prstGeom prst="roundRect">
            <a:avLst>
              <a:gd name="adj" fmla="val 10000"/>
            </a:avLst>
          </a:prstGeom>
          <a:solidFill>
            <a:srgbClr val="0B2545"/>
          </a:solidFill>
          <a:ln w="9525">
            <a:solidFill>
              <a:srgbClr val="0B2545"/>
            </a:solidFill>
            <a:prstDash val="solid"/>
          </a:ln>
        </p:spPr>
      </p:sp>
      <p:sp>
        <p:nvSpPr>
          <p:cNvPr id="5" name="Text 2"/>
          <p:cNvSpPr txBox="1"/>
          <p:nvPr/>
        </p:nvSpPr>
        <p:spPr>
          <a:xfrm>
            <a:off x="457200" y="1005840"/>
            <a:ext cx="8229600" cy="731520"/>
          </a:xfrm>
          <a:prstGeom prst="rect">
            <a:avLst/>
          </a:prstGeom>
          <a:noFill/>
        </p:spPr>
        <p:txBody>
          <a:bodyPr wrap="square" lIns="635" tIns="635" rIns="635" bIns="635" rtlCol="0" anchor="ctr">
            <a:normAutofit/>
          </a:bodyP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Loss = Σ(y − ŷ)² + α × Σ(β²)</a:t>
            </a:r>
            <a:endParaRPr lang="en-US" sz="2000" dirty="0"/>
          </a:p>
        </p:txBody>
      </p:sp>
      <p:sp>
        <p:nvSpPr>
          <p:cNvPr id="6" name="Text 3"/>
          <p:cNvSpPr txBox="1"/>
          <p:nvPr/>
        </p:nvSpPr>
        <p:spPr>
          <a:xfrm>
            <a:off x="457200" y="2011680"/>
            <a:ext cx="4480560" cy="256032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L2 regularization: penalty on squared coefficients</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α (alpha) controls strength; α = 0 is ordinary regression</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Larger α → smaller coefficients</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Controls large coefficients and reduces overfitting</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Shrinks but rarely makes coefficients exactly zero</a:t>
            </a:r>
            <a:endParaRPr lang="en-US" sz="1400" dirty="0"/>
          </a:p>
        </p:txBody>
      </p:sp>
      <p:sp>
        <p:nvSpPr>
          <p:cNvPr id="7" name="Text 4"/>
          <p:cNvSpPr txBox="1"/>
          <p:nvPr/>
        </p:nvSpPr>
        <p:spPr>
          <a:xfrm>
            <a:off x="5120640" y="1920240"/>
            <a:ext cx="3566160" cy="274320"/>
          </a:xfrm>
          <a:prstGeom prst="rect">
            <a:avLst/>
          </a:prstGeom>
          <a:noFill/>
        </p:spPr>
        <p:txBody>
          <a:bodyPr wrap="square" lIns="635" tIns="635" rIns="635" bIns="635" rtlCol="0" anchor="t">
            <a:normAutofit/>
          </a:bodyP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Coefficient shrinkage (illustrative)</a:t>
            </a:r>
            <a:endParaRPr lang="en-US" sz="1200" dirty="0"/>
          </a:p>
        </p:txBody>
      </p:sp>
      <p:sp>
        <p:nvSpPr>
          <p:cNvPr id="8" name="Shape 5"/>
          <p:cNvSpPr/>
          <p:nvPr/>
        </p:nvSpPr>
        <p:spPr>
          <a:xfrm>
            <a:off x="5394960" y="1920240"/>
            <a:ext cx="548640" cy="2377440"/>
          </a:xfrm>
          <a:prstGeom prst="rect">
            <a:avLst/>
          </a:prstGeom>
          <a:solidFill>
            <a:srgbClr val="64748B"/>
          </a:solidFill>
          <a:ln w="9525">
            <a:solidFill>
              <a:srgbClr val="64748B"/>
            </a:solidFill>
            <a:prstDash val="solid"/>
          </a:ln>
        </p:spPr>
      </p:sp>
      <p:sp>
        <p:nvSpPr>
          <p:cNvPr id="9" name="Text 6"/>
          <p:cNvSpPr txBox="1"/>
          <p:nvPr/>
        </p:nvSpPr>
        <p:spPr>
          <a:xfrm>
            <a:off x="5303520" y="4315968"/>
            <a:ext cx="731520" cy="228600"/>
          </a:xfrm>
          <a:prstGeom prst="rect">
            <a:avLst/>
          </a:prstGeom>
          <a:noFill/>
        </p:spPr>
        <p:txBody>
          <a:bodyPr wrap="square" lIns="0" tIns="0" rIns="0" bIns="0" rtlCol="0" anchor="t">
            <a:normAutofit/>
          </a:bodyPr>
          <a:lstStyle/>
          <a:p>
            <a:pPr marL="0" indent="0" algn="ctr">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OLS</a:t>
            </a:r>
            <a:endParaRPr lang="en-US" sz="1000" dirty="0"/>
          </a:p>
        </p:txBody>
      </p:sp>
      <p:sp>
        <p:nvSpPr>
          <p:cNvPr id="10" name="Shape 7"/>
          <p:cNvSpPr/>
          <p:nvPr/>
        </p:nvSpPr>
        <p:spPr>
          <a:xfrm>
            <a:off x="6217920" y="2560320"/>
            <a:ext cx="548640" cy="1737360"/>
          </a:xfrm>
          <a:prstGeom prst="rect">
            <a:avLst/>
          </a:prstGeom>
          <a:solidFill>
            <a:srgbClr val="0F8B8D"/>
          </a:solidFill>
          <a:ln w="9525">
            <a:solidFill>
              <a:srgbClr val="0F8B8D"/>
            </a:solidFill>
            <a:prstDash val="solid"/>
          </a:ln>
        </p:spPr>
      </p:sp>
      <p:sp>
        <p:nvSpPr>
          <p:cNvPr id="11" name="Text 8"/>
          <p:cNvSpPr txBox="1"/>
          <p:nvPr/>
        </p:nvSpPr>
        <p:spPr>
          <a:xfrm>
            <a:off x="6126480" y="4315968"/>
            <a:ext cx="731520" cy="228600"/>
          </a:xfrm>
          <a:prstGeom prst="rect">
            <a:avLst/>
          </a:prstGeom>
          <a:noFill/>
        </p:spPr>
        <p:txBody>
          <a:bodyPr wrap="square" lIns="0" tIns="0" rIns="0" bIns="0" rtlCol="0" anchor="t">
            <a:normAutofit/>
          </a:bodyPr>
          <a:lstStyle/>
          <a:p>
            <a:pPr marL="0" indent="0" algn="ctr">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Low α</a:t>
            </a:r>
            <a:endParaRPr lang="en-US" sz="1000" dirty="0"/>
          </a:p>
        </p:txBody>
      </p:sp>
      <p:sp>
        <p:nvSpPr>
          <p:cNvPr id="12" name="Shape 9"/>
          <p:cNvSpPr/>
          <p:nvPr/>
        </p:nvSpPr>
        <p:spPr>
          <a:xfrm>
            <a:off x="7040880" y="3108960"/>
            <a:ext cx="548640" cy="1188720"/>
          </a:xfrm>
          <a:prstGeom prst="rect">
            <a:avLst/>
          </a:prstGeom>
          <a:solidFill>
            <a:srgbClr val="0F8B8D"/>
          </a:solidFill>
          <a:ln w="9525">
            <a:solidFill>
              <a:srgbClr val="0F8B8D"/>
            </a:solidFill>
            <a:prstDash val="solid"/>
          </a:ln>
        </p:spPr>
      </p:sp>
      <p:sp>
        <p:nvSpPr>
          <p:cNvPr id="13" name="Text 10"/>
          <p:cNvSpPr txBox="1"/>
          <p:nvPr/>
        </p:nvSpPr>
        <p:spPr>
          <a:xfrm>
            <a:off x="6949440" y="4315968"/>
            <a:ext cx="731520" cy="228600"/>
          </a:xfrm>
          <a:prstGeom prst="rect">
            <a:avLst/>
          </a:prstGeom>
          <a:noFill/>
        </p:spPr>
        <p:txBody>
          <a:bodyPr wrap="square" lIns="0" tIns="0" rIns="0" bIns="0" rtlCol="0" anchor="t">
            <a:normAutofit/>
          </a:bodyPr>
          <a:lstStyle/>
          <a:p>
            <a:pPr marL="0" indent="0" algn="ctr">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Mid α</a:t>
            </a:r>
            <a:endParaRPr lang="en-US" sz="1000" dirty="0"/>
          </a:p>
        </p:txBody>
      </p:sp>
      <p:sp>
        <p:nvSpPr>
          <p:cNvPr id="14" name="Shape 11"/>
          <p:cNvSpPr/>
          <p:nvPr/>
        </p:nvSpPr>
        <p:spPr>
          <a:xfrm>
            <a:off x="7863840" y="3566160"/>
            <a:ext cx="548640" cy="731520"/>
          </a:xfrm>
          <a:prstGeom prst="rect">
            <a:avLst/>
          </a:prstGeom>
          <a:solidFill>
            <a:srgbClr val="0F8B8D"/>
          </a:solidFill>
          <a:ln w="9525">
            <a:solidFill>
              <a:srgbClr val="0F8B8D"/>
            </a:solidFill>
            <a:prstDash val="solid"/>
          </a:ln>
        </p:spPr>
      </p:sp>
      <p:sp>
        <p:nvSpPr>
          <p:cNvPr id="15" name="Text 12"/>
          <p:cNvSpPr txBox="1"/>
          <p:nvPr/>
        </p:nvSpPr>
        <p:spPr>
          <a:xfrm>
            <a:off x="7772400" y="4315968"/>
            <a:ext cx="731520" cy="228600"/>
          </a:xfrm>
          <a:prstGeom prst="rect">
            <a:avLst/>
          </a:prstGeom>
          <a:noFill/>
        </p:spPr>
        <p:txBody>
          <a:bodyPr wrap="square" lIns="0" tIns="0" rIns="0" bIns="0" rtlCol="0" anchor="t">
            <a:normAutofit/>
          </a:bodyPr>
          <a:lstStyle/>
          <a:p>
            <a:pPr marL="0" indent="0" algn="ctr">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High α</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Lasso Regression</a:t>
            </a:r>
            <a:endParaRPr lang="en-US" sz="2800" dirty="0"/>
          </a:p>
        </p:txBody>
      </p:sp>
      <p:sp>
        <p:nvSpPr>
          <p:cNvPr id="4" name="Shape 1"/>
          <p:cNvSpPr/>
          <p:nvPr/>
        </p:nvSpPr>
        <p:spPr>
          <a:xfrm>
            <a:off x="457200" y="1005840"/>
            <a:ext cx="8229600" cy="731520"/>
          </a:xfrm>
          <a:prstGeom prst="roundRect">
            <a:avLst>
              <a:gd name="adj" fmla="val 10000"/>
            </a:avLst>
          </a:prstGeom>
          <a:solidFill>
            <a:srgbClr val="0B2545"/>
          </a:solidFill>
          <a:ln w="9525">
            <a:solidFill>
              <a:srgbClr val="0B2545"/>
            </a:solidFill>
            <a:prstDash val="solid"/>
          </a:ln>
        </p:spPr>
      </p:sp>
      <p:sp>
        <p:nvSpPr>
          <p:cNvPr id="5" name="Text 2"/>
          <p:cNvSpPr txBox="1"/>
          <p:nvPr/>
        </p:nvSpPr>
        <p:spPr>
          <a:xfrm>
            <a:off x="457200" y="1005840"/>
            <a:ext cx="8229600" cy="731520"/>
          </a:xfrm>
          <a:prstGeom prst="rect">
            <a:avLst/>
          </a:prstGeom>
          <a:noFill/>
        </p:spPr>
        <p:txBody>
          <a:bodyPr wrap="square" lIns="635" tIns="635" rIns="635" bIns="635" rtlCol="0" anchor="ctr">
            <a:normAutofit/>
          </a:bodyP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Loss = Σ(y − ŷ)² + α × Σ|β|</a:t>
            </a:r>
            <a:endParaRPr lang="en-US" sz="2000" dirty="0"/>
          </a:p>
        </p:txBody>
      </p:sp>
      <p:sp>
        <p:nvSpPr>
          <p:cNvPr id="6" name="Text 3"/>
          <p:cNvSpPr txBox="1"/>
          <p:nvPr/>
        </p:nvSpPr>
        <p:spPr>
          <a:xfrm>
            <a:off x="457200" y="1965960"/>
            <a:ext cx="3840480" cy="256032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L1 regularization: penalty on absolute coefficients</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Can shrink some coefficients exactly to zero</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Useful for feature selection</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Larger α → more zero coefficients</a:t>
            </a:r>
            <a:endParaRPr lang="en-US" sz="1400" dirty="0"/>
          </a:p>
        </p:txBody>
      </p:sp>
      <p:graphicFrame>
        <p:nvGraphicFramePr>
          <p:cNvPr id="12" name="Table 0"/>
          <p:cNvGraphicFramePr>
            <a:graphicFrameLocks noGrp="1"/>
          </p:cNvGraphicFramePr>
          <p:nvPr/>
        </p:nvGraphicFramePr>
        <p:xfrm>
          <a:off x="4572000" y="1965960"/>
          <a:ext cx="4114800" cy="2286000"/>
        </p:xfrm>
        <a:graphic>
          <a:graphicData uri="http://schemas.openxmlformats.org/drawingml/2006/table">
            <a:tbl>
              <a:tblPr/>
              <a:tblGrid>
                <a:gridCol w="1280160"/>
                <a:gridCol w="1417320"/>
                <a:gridCol w="1417320"/>
              </a:tblGrid>
              <a:tr h="457200">
                <a:tc>
                  <a:txBody>
                    <a:bodyPr/>
                    <a:lstStyle/>
                    <a:p>
                      <a:pPr marL="0" indent="0" algn="l">
                        <a:buNone/>
                      </a:pP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Ridge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Lasso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r>
              <a:tr h="457200">
                <a:tc>
                  <a:txBody>
                    <a:bodyPr/>
                    <a:lstStyle/>
                    <a:p>
                      <a:pPr marL="0" indent="0" algn="l">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Penalty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L2 (squared)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L1 (absolute)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marL="0" indent="0" algn="l">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Coefficients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Shrunk, rarely zero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Some become zero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marL="0" indent="0" algn="l">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Feature selection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No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Yes (implicit)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marL="0" indent="0" algn="l">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Best when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Features correlated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Few features matter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Model Evaluation</a:t>
            </a:r>
            <a:endParaRPr lang="en-US" sz="2800" dirty="0"/>
          </a:p>
        </p:txBody>
      </p:sp>
      <p:sp>
        <p:nvSpPr>
          <p:cNvPr id="4" name="Shape 1"/>
          <p:cNvSpPr/>
          <p:nvPr/>
        </p:nvSpPr>
        <p:spPr>
          <a:xfrm>
            <a:off x="457200" y="1005840"/>
            <a:ext cx="2651760" cy="1417320"/>
          </a:xfrm>
          <a:prstGeom prst="roundRect">
            <a:avLst>
              <a:gd name="adj" fmla="val 5161"/>
            </a:avLst>
          </a:prstGeom>
          <a:solidFill>
            <a:srgbClr val="EEF6F7"/>
          </a:solidFill>
          <a:ln w="9525">
            <a:solidFill>
              <a:srgbClr val="EEF6F7"/>
            </a:solidFill>
            <a:prstDash val="solid"/>
          </a:ln>
        </p:spPr>
      </p:sp>
      <p:sp>
        <p:nvSpPr>
          <p:cNvPr id="5" name="Text 2"/>
          <p:cNvSpPr txBox="1"/>
          <p:nvPr/>
        </p:nvSpPr>
        <p:spPr>
          <a:xfrm>
            <a:off x="548640" y="1051560"/>
            <a:ext cx="2468880" cy="320040"/>
          </a:xfrm>
          <a:prstGeom prst="rect">
            <a:avLst/>
          </a:prstGeom>
          <a:noFill/>
        </p:spPr>
        <p:txBody>
          <a:bodyPr wrap="square" lIns="635" tIns="635" rIns="635" bIns="635" rtlCol="0" anchor="t">
            <a:normAutofit/>
          </a:bodyPr>
          <a:lstStyle/>
          <a:p>
            <a:pPr marL="0" indent="0" algn="l">
              <a:buNone/>
            </a:pPr>
            <a:r>
              <a:rPr lang="en-US" sz="1600" b="1" dirty="0">
                <a:solidFill>
                  <a:srgbClr val="0F8B8D"/>
                </a:solidFill>
                <a:latin typeface="Calibri" panose="020F0502020204030204" pitchFamily="34" charset="0"/>
                <a:ea typeface="Calibri" panose="020F0502020204030204" pitchFamily="34" charset="-122"/>
                <a:cs typeface="Calibri" panose="020F0502020204030204" pitchFamily="34" charset="-120"/>
              </a:rPr>
              <a:t>MAE</a:t>
            </a:r>
            <a:endParaRPr lang="en-US" sz="1600" dirty="0"/>
          </a:p>
        </p:txBody>
      </p:sp>
      <p:sp>
        <p:nvSpPr>
          <p:cNvPr id="6" name="Text 3"/>
          <p:cNvSpPr txBox="1"/>
          <p:nvPr/>
        </p:nvSpPr>
        <p:spPr>
          <a:xfrm>
            <a:off x="548640" y="1417320"/>
            <a:ext cx="2468880" cy="365760"/>
          </a:xfrm>
          <a:prstGeom prst="rect">
            <a:avLst/>
          </a:prstGeom>
          <a:noFill/>
        </p:spPr>
        <p:txBody>
          <a:bodyPr wrap="square" lIns="635" tIns="635" rIns="635" bIns="635" rtlCol="0" anchor="t">
            <a:normAutofit/>
          </a:bodyPr>
          <a:lstStyle/>
          <a:p>
            <a:pPr marL="0" indent="0" algn="l">
              <a:buNone/>
            </a:pPr>
            <a:r>
              <a:rPr lang="en-US" sz="1300" dirty="0">
                <a:solidFill>
                  <a:srgbClr val="0B2545"/>
                </a:solidFill>
                <a:latin typeface="Cambria" panose="02040503050406030204" pitchFamily="34" charset="0"/>
                <a:ea typeface="Cambria" panose="02040503050406030204" pitchFamily="34" charset="-122"/>
                <a:cs typeface="Cambria" panose="02040503050406030204" pitchFamily="34" charset="-120"/>
              </a:rPr>
              <a:t>(1/n) Σ|y − ŷ|</a:t>
            </a:r>
            <a:endParaRPr lang="en-US" sz="1300" dirty="0"/>
          </a:p>
        </p:txBody>
      </p:sp>
      <p:sp>
        <p:nvSpPr>
          <p:cNvPr id="7" name="Text 4"/>
          <p:cNvSpPr txBox="1"/>
          <p:nvPr/>
        </p:nvSpPr>
        <p:spPr>
          <a:xfrm>
            <a:off x="548640" y="1874520"/>
            <a:ext cx="2468880" cy="365760"/>
          </a:xfrm>
          <a:prstGeom prst="rect">
            <a:avLst/>
          </a:prstGeom>
          <a:noFill/>
        </p:spPr>
        <p:txBody>
          <a:bodyPr wrap="square" lIns="635" tIns="635" rIns="635" bIns="635" rtlCol="0" anchor="t">
            <a:normAutofit/>
          </a:bodyPr>
          <a:lstStyle/>
          <a:p>
            <a:pPr marL="0" indent="0" algn="l">
              <a:buNone/>
            </a:pPr>
            <a:r>
              <a:rPr lang="en-US" sz="1300" i="1" dirty="0">
                <a:solidFill>
                  <a:srgbClr val="334155"/>
                </a:solidFill>
                <a:latin typeface="Calibri" panose="020F0502020204030204" pitchFamily="34" charset="0"/>
                <a:ea typeface="Calibri" panose="020F0502020204030204" pitchFamily="34" charset="-122"/>
                <a:cs typeface="Calibri" panose="020F0502020204030204" pitchFamily="34" charset="-120"/>
              </a:rPr>
              <a:t>Lower is better</a:t>
            </a:r>
            <a:endParaRPr lang="en-US" sz="1300" dirty="0"/>
          </a:p>
        </p:txBody>
      </p:sp>
      <p:sp>
        <p:nvSpPr>
          <p:cNvPr id="8" name="Shape 5"/>
          <p:cNvSpPr/>
          <p:nvPr/>
        </p:nvSpPr>
        <p:spPr>
          <a:xfrm>
            <a:off x="3291840" y="1005840"/>
            <a:ext cx="2651760" cy="1417320"/>
          </a:xfrm>
          <a:prstGeom prst="roundRect">
            <a:avLst>
              <a:gd name="adj" fmla="val 5161"/>
            </a:avLst>
          </a:prstGeom>
          <a:solidFill>
            <a:srgbClr val="EEF6F7"/>
          </a:solidFill>
          <a:ln w="9525">
            <a:solidFill>
              <a:srgbClr val="EEF6F7"/>
            </a:solidFill>
            <a:prstDash val="solid"/>
          </a:ln>
        </p:spPr>
      </p:sp>
      <p:sp>
        <p:nvSpPr>
          <p:cNvPr id="9" name="Text 6"/>
          <p:cNvSpPr txBox="1"/>
          <p:nvPr/>
        </p:nvSpPr>
        <p:spPr>
          <a:xfrm>
            <a:off x="3383280" y="1051560"/>
            <a:ext cx="2468880" cy="320040"/>
          </a:xfrm>
          <a:prstGeom prst="rect">
            <a:avLst/>
          </a:prstGeom>
          <a:noFill/>
        </p:spPr>
        <p:txBody>
          <a:bodyPr wrap="square" lIns="635" tIns="635" rIns="635" bIns="635" rtlCol="0" anchor="t">
            <a:normAutofit/>
          </a:bodyPr>
          <a:lstStyle/>
          <a:p>
            <a:pPr marL="0" indent="0" algn="l">
              <a:buNone/>
            </a:pPr>
            <a:r>
              <a:rPr lang="en-US" sz="1600" b="1" dirty="0">
                <a:solidFill>
                  <a:srgbClr val="6BBF59"/>
                </a:solidFill>
                <a:latin typeface="Calibri" panose="020F0502020204030204" pitchFamily="34" charset="0"/>
                <a:ea typeface="Calibri" panose="020F0502020204030204" pitchFamily="34" charset="-122"/>
                <a:cs typeface="Calibri" panose="020F0502020204030204" pitchFamily="34" charset="-120"/>
              </a:rPr>
              <a:t>RMSE</a:t>
            </a:r>
            <a:endParaRPr lang="en-US" sz="1600" dirty="0"/>
          </a:p>
        </p:txBody>
      </p:sp>
      <p:sp>
        <p:nvSpPr>
          <p:cNvPr id="10" name="Text 7"/>
          <p:cNvSpPr txBox="1"/>
          <p:nvPr/>
        </p:nvSpPr>
        <p:spPr>
          <a:xfrm>
            <a:off x="3383280" y="1417320"/>
            <a:ext cx="2468880" cy="365760"/>
          </a:xfrm>
          <a:prstGeom prst="rect">
            <a:avLst/>
          </a:prstGeom>
          <a:noFill/>
        </p:spPr>
        <p:txBody>
          <a:bodyPr wrap="square" lIns="635" tIns="635" rIns="635" bIns="635" rtlCol="0" anchor="t">
            <a:normAutofit/>
          </a:bodyPr>
          <a:lstStyle/>
          <a:p>
            <a:pPr marL="0" indent="0" algn="l">
              <a:buNone/>
            </a:pPr>
            <a:r>
              <a:rPr lang="en-US" sz="1300" dirty="0">
                <a:solidFill>
                  <a:srgbClr val="0B2545"/>
                </a:solidFill>
                <a:latin typeface="Cambria" panose="02040503050406030204" pitchFamily="34" charset="0"/>
                <a:ea typeface="Cambria" panose="02040503050406030204" pitchFamily="34" charset="-122"/>
                <a:cs typeface="Cambria" panose="02040503050406030204" pitchFamily="34" charset="-120"/>
              </a:rPr>
              <a:t>√[(1/n) Σ(y − ŷ)²]</a:t>
            </a:r>
            <a:endParaRPr lang="en-US" sz="1300" dirty="0"/>
          </a:p>
        </p:txBody>
      </p:sp>
      <p:sp>
        <p:nvSpPr>
          <p:cNvPr id="11" name="Text 8"/>
          <p:cNvSpPr txBox="1"/>
          <p:nvPr/>
        </p:nvSpPr>
        <p:spPr>
          <a:xfrm>
            <a:off x="3383280" y="1874520"/>
            <a:ext cx="2468880" cy="365760"/>
          </a:xfrm>
          <a:prstGeom prst="rect">
            <a:avLst/>
          </a:prstGeom>
          <a:noFill/>
        </p:spPr>
        <p:txBody>
          <a:bodyPr wrap="square" lIns="635" tIns="635" rIns="635" bIns="635" rtlCol="0" anchor="t">
            <a:normAutofit/>
          </a:bodyPr>
          <a:lstStyle/>
          <a:p>
            <a:pPr marL="0" indent="0" algn="l">
              <a:buNone/>
            </a:pPr>
            <a:r>
              <a:rPr lang="en-US" sz="1300" i="1" dirty="0">
                <a:solidFill>
                  <a:srgbClr val="334155"/>
                </a:solidFill>
                <a:latin typeface="Calibri" panose="020F0502020204030204" pitchFamily="34" charset="0"/>
                <a:ea typeface="Calibri" panose="020F0502020204030204" pitchFamily="34" charset="-122"/>
                <a:cs typeface="Calibri" panose="020F0502020204030204" pitchFamily="34" charset="-120"/>
              </a:rPr>
              <a:t>Lower is better</a:t>
            </a:r>
            <a:endParaRPr lang="en-US" sz="1300" dirty="0"/>
          </a:p>
        </p:txBody>
      </p:sp>
      <p:sp>
        <p:nvSpPr>
          <p:cNvPr id="12" name="Shape 9"/>
          <p:cNvSpPr/>
          <p:nvPr/>
        </p:nvSpPr>
        <p:spPr>
          <a:xfrm>
            <a:off x="6126480" y="1005840"/>
            <a:ext cx="2651760" cy="1417320"/>
          </a:xfrm>
          <a:prstGeom prst="roundRect">
            <a:avLst>
              <a:gd name="adj" fmla="val 5161"/>
            </a:avLst>
          </a:prstGeom>
          <a:solidFill>
            <a:srgbClr val="EEF6F7"/>
          </a:solidFill>
          <a:ln w="9525">
            <a:solidFill>
              <a:srgbClr val="EEF6F7"/>
            </a:solidFill>
            <a:prstDash val="solid"/>
          </a:ln>
        </p:spPr>
      </p:sp>
      <p:sp>
        <p:nvSpPr>
          <p:cNvPr id="13" name="Text 10"/>
          <p:cNvSpPr txBox="1"/>
          <p:nvPr/>
        </p:nvSpPr>
        <p:spPr>
          <a:xfrm>
            <a:off x="6217920" y="1051560"/>
            <a:ext cx="2468880" cy="320040"/>
          </a:xfrm>
          <a:prstGeom prst="rect">
            <a:avLst/>
          </a:prstGeom>
          <a:noFill/>
        </p:spPr>
        <p:txBody>
          <a:bodyPr wrap="square" lIns="635" tIns="635" rIns="635" bIns="635" rtlCol="0" anchor="t">
            <a:normAutofit/>
          </a:bodyPr>
          <a:lstStyle/>
          <a:p>
            <a:pPr marL="0" indent="0" algn="l">
              <a:buNone/>
            </a:pPr>
            <a:r>
              <a:rPr lang="en-US" sz="1600" b="1" dirty="0">
                <a:solidFill>
                  <a:srgbClr val="1D4E89"/>
                </a:solidFill>
                <a:latin typeface="Calibri" panose="020F0502020204030204" pitchFamily="34" charset="0"/>
                <a:ea typeface="Calibri" panose="020F0502020204030204" pitchFamily="34" charset="-122"/>
                <a:cs typeface="Calibri" panose="020F0502020204030204" pitchFamily="34" charset="-120"/>
              </a:rPr>
              <a:t>R² Score</a:t>
            </a:r>
            <a:endParaRPr lang="en-US" sz="1600" dirty="0"/>
          </a:p>
        </p:txBody>
      </p:sp>
      <p:sp>
        <p:nvSpPr>
          <p:cNvPr id="14" name="Text 11"/>
          <p:cNvSpPr txBox="1"/>
          <p:nvPr/>
        </p:nvSpPr>
        <p:spPr>
          <a:xfrm>
            <a:off x="6217920" y="1417320"/>
            <a:ext cx="2468880" cy="365760"/>
          </a:xfrm>
          <a:prstGeom prst="rect">
            <a:avLst/>
          </a:prstGeom>
          <a:noFill/>
        </p:spPr>
        <p:txBody>
          <a:bodyPr wrap="square" lIns="635" tIns="635" rIns="635" bIns="635" rtlCol="0" anchor="t">
            <a:normAutofit/>
          </a:bodyPr>
          <a:lstStyle/>
          <a:p>
            <a:pPr marL="0" indent="0" algn="l">
              <a:buNone/>
            </a:pPr>
            <a:r>
              <a:rPr lang="en-US" sz="1300" dirty="0">
                <a:solidFill>
                  <a:srgbClr val="0B2545"/>
                </a:solidFill>
                <a:latin typeface="Cambria" panose="02040503050406030204" pitchFamily="34" charset="0"/>
                <a:ea typeface="Cambria" panose="02040503050406030204" pitchFamily="34" charset="-122"/>
                <a:cs typeface="Cambria" panose="02040503050406030204" pitchFamily="34" charset="-120"/>
              </a:rPr>
              <a:t>1 − SS_res / SS_tot</a:t>
            </a:r>
            <a:endParaRPr lang="en-US" sz="1300" dirty="0"/>
          </a:p>
        </p:txBody>
      </p:sp>
      <p:sp>
        <p:nvSpPr>
          <p:cNvPr id="15" name="Text 12"/>
          <p:cNvSpPr txBox="1"/>
          <p:nvPr/>
        </p:nvSpPr>
        <p:spPr>
          <a:xfrm>
            <a:off x="6217920" y="1874520"/>
            <a:ext cx="2468880" cy="365760"/>
          </a:xfrm>
          <a:prstGeom prst="rect">
            <a:avLst/>
          </a:prstGeom>
          <a:noFill/>
        </p:spPr>
        <p:txBody>
          <a:bodyPr wrap="square" lIns="635" tIns="635" rIns="635" bIns="635" rtlCol="0" anchor="t">
            <a:normAutofit/>
          </a:bodyPr>
          <a:lstStyle/>
          <a:p>
            <a:pPr marL="0" indent="0" algn="l">
              <a:buNone/>
            </a:pPr>
            <a:r>
              <a:rPr lang="en-US" sz="1300" i="1" dirty="0">
                <a:solidFill>
                  <a:srgbClr val="334155"/>
                </a:solidFill>
                <a:latin typeface="Calibri" panose="020F0502020204030204" pitchFamily="34" charset="0"/>
                <a:ea typeface="Calibri" panose="020F0502020204030204" pitchFamily="34" charset="-122"/>
                <a:cs typeface="Calibri" panose="020F0502020204030204" pitchFamily="34" charset="-120"/>
              </a:rPr>
              <a:t>Closer to 1 is better</a:t>
            </a:r>
            <a:endParaRPr lang="en-US" sz="1300" dirty="0"/>
          </a:p>
        </p:txBody>
      </p:sp>
      <p:graphicFrame>
        <p:nvGraphicFramePr>
          <p:cNvPr id="3" name="Table 0"/>
          <p:cNvGraphicFramePr>
            <a:graphicFrameLocks noGrp="1"/>
          </p:cNvGraphicFramePr>
          <p:nvPr/>
        </p:nvGraphicFramePr>
        <p:xfrm>
          <a:off x="457200" y="2743200"/>
          <a:ext cx="8229600" cy="1371600"/>
        </p:xfrm>
        <a:graphic>
          <a:graphicData uri="http://schemas.openxmlformats.org/drawingml/2006/table">
            <a:tbl>
              <a:tblPr/>
              <a:tblGrid>
                <a:gridCol w="2057400"/>
                <a:gridCol w="2057400"/>
                <a:gridCol w="2057400"/>
                <a:gridCol w="2057400"/>
              </a:tblGrid>
              <a:tr h="457200">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RMSE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c>
                  <a:txBody>
                    <a:bodyP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R²</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0F8B8D"/>
                    </a:solidFill>
                  </a:tcPr>
                </a:tc>
              </a:tr>
              <a:tr h="457200">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Ridge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[Insert Ridge MAE]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[Insert Ridge RMSE]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[Insert Ridge R²]</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Lasso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[Insert Lasso MAE]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[Insert Lasso RMSE]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[Insert Lasso R²]</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7" name="Text 13"/>
          <p:cNvSpPr txBox="1"/>
          <p:nvPr/>
        </p:nvSpPr>
        <p:spPr>
          <a:xfrm>
            <a:off x="457200" y="4297680"/>
            <a:ext cx="8229600" cy="274320"/>
          </a:xfrm>
          <a:prstGeom prst="rect">
            <a:avLst/>
          </a:prstGeom>
          <a:noFill/>
        </p:spPr>
        <p:txBody>
          <a:bodyPr wrap="square" lIns="635" tIns="635" rIns="635" bIns="635" rtlCol="0" anchor="t">
            <a:normAutofit/>
          </a:bodyPr>
          <a:lstStyle/>
          <a:p>
            <a:pPr marL="0" indent="0" algn="l">
              <a:buNone/>
            </a:pPr>
            <a:r>
              <a:rPr lang="en-US" sz="1200" i="1" dirty="0">
                <a:solidFill>
                  <a:srgbClr val="64748B"/>
                </a:solidFill>
                <a:latin typeface="Calibri" panose="020F0502020204030204" pitchFamily="34" charset="0"/>
                <a:ea typeface="Calibri" panose="020F0502020204030204" pitchFamily="34" charset="-122"/>
                <a:cs typeface="Calibri" panose="020F0502020204030204" pitchFamily="34" charset="-120"/>
              </a:rPr>
              <a:t>Replace bracketed placeholders with your actual notebook results.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Results and Visualizations</a:t>
            </a:r>
            <a:endParaRPr lang="en-US" sz="2800" dirty="0"/>
          </a:p>
        </p:txBody>
      </p:sp>
      <p:sp>
        <p:nvSpPr>
          <p:cNvPr id="4" name="Shape 1"/>
          <p:cNvSpPr/>
          <p:nvPr/>
        </p:nvSpPr>
        <p:spPr>
          <a:xfrm>
            <a:off x="457200" y="1005840"/>
            <a:ext cx="4023360" cy="1691640"/>
          </a:xfrm>
          <a:prstGeom prst="roundRect">
            <a:avLst>
              <a:gd name="adj" fmla="val 4324"/>
            </a:avLst>
          </a:prstGeom>
          <a:solidFill>
            <a:srgbClr val="EEF6F7"/>
          </a:solidFill>
          <a:ln w="15875">
            <a:solidFill>
              <a:srgbClr val="0F8B8D"/>
            </a:solidFill>
            <a:prstDash val="dash"/>
          </a:ln>
        </p:spPr>
      </p:sp>
      <p:sp>
        <p:nvSpPr>
          <p:cNvPr id="5" name="Text 2"/>
          <p:cNvSpPr txBox="1"/>
          <p:nvPr/>
        </p:nvSpPr>
        <p:spPr>
          <a:xfrm>
            <a:off x="548640" y="1097280"/>
            <a:ext cx="3840480" cy="32004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Ridge: Actual vs Predicted AQI</a:t>
            </a:r>
            <a:endParaRPr lang="en-US" sz="1400" dirty="0"/>
          </a:p>
        </p:txBody>
      </p:sp>
      <p:sp>
        <p:nvSpPr>
          <p:cNvPr id="6" name="Text 3"/>
          <p:cNvSpPr txBox="1"/>
          <p:nvPr/>
        </p:nvSpPr>
        <p:spPr>
          <a:xfrm>
            <a:off x="548640" y="1554480"/>
            <a:ext cx="3840480" cy="365760"/>
          </a:xfrm>
          <a:prstGeom prst="rect">
            <a:avLst/>
          </a:prstGeom>
          <a:noFill/>
        </p:spPr>
        <p:txBody>
          <a:bodyPr wrap="square" lIns="635" tIns="635" rIns="635" bIns="635" rtlCol="0" anchor="t">
            <a:normAutofit/>
          </a:bodyPr>
          <a:lstStyle/>
          <a:p>
            <a:pPr marL="0" indent="0" algn="ctr">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[Insert graph from Colab]</a:t>
            </a:r>
            <a:endParaRPr lang="en-US" sz="1300" dirty="0"/>
          </a:p>
        </p:txBody>
      </p:sp>
      <p:sp>
        <p:nvSpPr>
          <p:cNvPr id="7" name="Text 4"/>
          <p:cNvSpPr txBox="1"/>
          <p:nvPr/>
        </p:nvSpPr>
        <p:spPr>
          <a:xfrm>
            <a:off x="548640" y="2148840"/>
            <a:ext cx="3840480" cy="457200"/>
          </a:xfrm>
          <a:prstGeom prst="rect">
            <a:avLst/>
          </a:prstGeom>
          <a:noFill/>
        </p:spPr>
        <p:txBody>
          <a:bodyPr wrap="square" lIns="635" tIns="635" rIns="635" bIns="635" rtlCol="0" anchor="t">
            <a:normAutofit/>
          </a:bodyPr>
          <a:lstStyle/>
          <a:p>
            <a:pPr marL="0" indent="0" algn="l">
              <a:buNone/>
            </a:pPr>
            <a:r>
              <a:rPr lang="en-US" sz="1200" i="1" dirty="0">
                <a:solidFill>
                  <a:srgbClr val="0F8B8D"/>
                </a:solidFill>
                <a:latin typeface="Calibri" panose="020F0502020204030204" pitchFamily="34" charset="0"/>
                <a:ea typeface="Calibri" panose="020F0502020204030204" pitchFamily="34" charset="-122"/>
                <a:cs typeface="Calibri" panose="020F0502020204030204" pitchFamily="34" charset="-120"/>
              </a:rPr>
              <a:t>How to read: Points close to the diagonal = accurate</a:t>
            </a:r>
            <a:endParaRPr lang="en-US" sz="1200" dirty="0"/>
          </a:p>
        </p:txBody>
      </p:sp>
      <p:sp>
        <p:nvSpPr>
          <p:cNvPr id="8" name="Shape 5"/>
          <p:cNvSpPr/>
          <p:nvPr/>
        </p:nvSpPr>
        <p:spPr>
          <a:xfrm>
            <a:off x="4663440" y="1005840"/>
            <a:ext cx="4023360" cy="1691640"/>
          </a:xfrm>
          <a:prstGeom prst="roundRect">
            <a:avLst>
              <a:gd name="adj" fmla="val 4324"/>
            </a:avLst>
          </a:prstGeom>
          <a:solidFill>
            <a:srgbClr val="EEF6F7"/>
          </a:solidFill>
          <a:ln w="15875">
            <a:solidFill>
              <a:srgbClr val="0F8B8D"/>
            </a:solidFill>
            <a:prstDash val="dash"/>
          </a:ln>
        </p:spPr>
      </p:sp>
      <p:sp>
        <p:nvSpPr>
          <p:cNvPr id="9" name="Text 6"/>
          <p:cNvSpPr txBox="1"/>
          <p:nvPr/>
        </p:nvSpPr>
        <p:spPr>
          <a:xfrm>
            <a:off x="4754880" y="1097280"/>
            <a:ext cx="3840480" cy="32004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Lasso: Actual vs Predicted AQI</a:t>
            </a:r>
            <a:endParaRPr lang="en-US" sz="1400" dirty="0"/>
          </a:p>
        </p:txBody>
      </p:sp>
      <p:sp>
        <p:nvSpPr>
          <p:cNvPr id="10" name="Text 7"/>
          <p:cNvSpPr txBox="1"/>
          <p:nvPr/>
        </p:nvSpPr>
        <p:spPr>
          <a:xfrm>
            <a:off x="4754880" y="1554480"/>
            <a:ext cx="3840480" cy="365760"/>
          </a:xfrm>
          <a:prstGeom prst="rect">
            <a:avLst/>
          </a:prstGeom>
          <a:noFill/>
        </p:spPr>
        <p:txBody>
          <a:bodyPr wrap="square" lIns="635" tIns="635" rIns="635" bIns="635" rtlCol="0" anchor="t">
            <a:normAutofit/>
          </a:bodyPr>
          <a:lstStyle/>
          <a:p>
            <a:pPr marL="0" indent="0" algn="ctr">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[Insert graph from Colab]</a:t>
            </a:r>
            <a:endParaRPr lang="en-US" sz="1300" dirty="0"/>
          </a:p>
        </p:txBody>
      </p:sp>
      <p:sp>
        <p:nvSpPr>
          <p:cNvPr id="11" name="Text 8"/>
          <p:cNvSpPr txBox="1"/>
          <p:nvPr/>
        </p:nvSpPr>
        <p:spPr>
          <a:xfrm>
            <a:off x="4754880" y="2148840"/>
            <a:ext cx="3840480" cy="457200"/>
          </a:xfrm>
          <a:prstGeom prst="rect">
            <a:avLst/>
          </a:prstGeom>
          <a:noFill/>
        </p:spPr>
        <p:txBody>
          <a:bodyPr wrap="square" lIns="635" tIns="635" rIns="635" bIns="635" rtlCol="0" anchor="t">
            <a:normAutofit/>
          </a:bodyPr>
          <a:lstStyle/>
          <a:p>
            <a:pPr marL="0" indent="0" algn="l">
              <a:buNone/>
            </a:pPr>
            <a:r>
              <a:rPr lang="en-US" sz="1200" i="1" dirty="0">
                <a:solidFill>
                  <a:srgbClr val="0F8B8D"/>
                </a:solidFill>
                <a:latin typeface="Calibri" panose="020F0502020204030204" pitchFamily="34" charset="0"/>
                <a:ea typeface="Calibri" panose="020F0502020204030204" pitchFamily="34" charset="-122"/>
                <a:cs typeface="Calibri" panose="020F0502020204030204" pitchFamily="34" charset="-120"/>
              </a:rPr>
              <a:t>How to read: Tight spread around line = lower error</a:t>
            </a:r>
            <a:endParaRPr lang="en-US" sz="1200" dirty="0"/>
          </a:p>
        </p:txBody>
      </p:sp>
      <p:sp>
        <p:nvSpPr>
          <p:cNvPr id="12" name="Shape 9"/>
          <p:cNvSpPr/>
          <p:nvPr/>
        </p:nvSpPr>
        <p:spPr>
          <a:xfrm>
            <a:off x="457200" y="2834640"/>
            <a:ext cx="4023360" cy="1691640"/>
          </a:xfrm>
          <a:prstGeom prst="roundRect">
            <a:avLst>
              <a:gd name="adj" fmla="val 4324"/>
            </a:avLst>
          </a:prstGeom>
          <a:solidFill>
            <a:srgbClr val="EEF6F7"/>
          </a:solidFill>
          <a:ln w="15875">
            <a:solidFill>
              <a:srgbClr val="0F8B8D"/>
            </a:solidFill>
            <a:prstDash val="dash"/>
          </a:ln>
        </p:spPr>
      </p:sp>
      <p:sp>
        <p:nvSpPr>
          <p:cNvPr id="13" name="Text 10"/>
          <p:cNvSpPr txBox="1"/>
          <p:nvPr/>
        </p:nvSpPr>
        <p:spPr>
          <a:xfrm>
            <a:off x="548640" y="2926080"/>
            <a:ext cx="3840480" cy="32004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Ridge vs Lasso R² Chart</a:t>
            </a:r>
            <a:endParaRPr lang="en-US" sz="1400" dirty="0"/>
          </a:p>
        </p:txBody>
      </p:sp>
      <p:sp>
        <p:nvSpPr>
          <p:cNvPr id="14" name="Text 11"/>
          <p:cNvSpPr txBox="1"/>
          <p:nvPr/>
        </p:nvSpPr>
        <p:spPr>
          <a:xfrm>
            <a:off x="548640" y="3383280"/>
            <a:ext cx="3840480" cy="365760"/>
          </a:xfrm>
          <a:prstGeom prst="rect">
            <a:avLst/>
          </a:prstGeom>
          <a:noFill/>
        </p:spPr>
        <p:txBody>
          <a:bodyPr wrap="square" lIns="635" tIns="635" rIns="635" bIns="635" rtlCol="0" anchor="t">
            <a:normAutofit/>
          </a:bodyPr>
          <a:lstStyle/>
          <a:p>
            <a:pPr marL="0" indent="0" algn="ctr">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[Insert graph from Colab]</a:t>
            </a:r>
            <a:endParaRPr lang="en-US" sz="1300" dirty="0"/>
          </a:p>
        </p:txBody>
      </p:sp>
      <p:sp>
        <p:nvSpPr>
          <p:cNvPr id="15" name="Text 12"/>
          <p:cNvSpPr txBox="1"/>
          <p:nvPr/>
        </p:nvSpPr>
        <p:spPr>
          <a:xfrm>
            <a:off x="548640" y="3977640"/>
            <a:ext cx="3840480" cy="457200"/>
          </a:xfrm>
          <a:prstGeom prst="rect">
            <a:avLst/>
          </a:prstGeom>
          <a:noFill/>
        </p:spPr>
        <p:txBody>
          <a:bodyPr wrap="square" lIns="635" tIns="635" rIns="635" bIns="635" rtlCol="0" anchor="t">
            <a:normAutofit/>
          </a:bodyPr>
          <a:lstStyle/>
          <a:p>
            <a:pPr marL="0" indent="0" algn="l">
              <a:buNone/>
            </a:pPr>
            <a:r>
              <a:rPr lang="en-US" sz="1200" i="1" dirty="0">
                <a:solidFill>
                  <a:srgbClr val="0F8B8D"/>
                </a:solidFill>
                <a:latin typeface="Calibri" panose="020F0502020204030204" pitchFamily="34" charset="0"/>
                <a:ea typeface="Calibri" panose="020F0502020204030204" pitchFamily="34" charset="-122"/>
                <a:cs typeface="Calibri" panose="020F0502020204030204" pitchFamily="34" charset="-120"/>
              </a:rPr>
              <a:t>How to read: Compare bar heights; check closeness</a:t>
            </a:r>
            <a:endParaRPr lang="en-US" sz="1200" dirty="0"/>
          </a:p>
        </p:txBody>
      </p:sp>
      <p:sp>
        <p:nvSpPr>
          <p:cNvPr id="16" name="Shape 13"/>
          <p:cNvSpPr/>
          <p:nvPr/>
        </p:nvSpPr>
        <p:spPr>
          <a:xfrm>
            <a:off x="4663440" y="2834640"/>
            <a:ext cx="4023360" cy="1691640"/>
          </a:xfrm>
          <a:prstGeom prst="roundRect">
            <a:avLst>
              <a:gd name="adj" fmla="val 4324"/>
            </a:avLst>
          </a:prstGeom>
          <a:solidFill>
            <a:srgbClr val="EEF6F7"/>
          </a:solidFill>
          <a:ln w="15875">
            <a:solidFill>
              <a:srgbClr val="0F8B8D"/>
            </a:solidFill>
            <a:prstDash val="dash"/>
          </a:ln>
        </p:spPr>
      </p:sp>
      <p:sp>
        <p:nvSpPr>
          <p:cNvPr id="17" name="Text 14"/>
          <p:cNvSpPr txBox="1"/>
          <p:nvPr/>
        </p:nvSpPr>
        <p:spPr>
          <a:xfrm>
            <a:off x="4754880" y="2926080"/>
            <a:ext cx="3840480" cy="320040"/>
          </a:xfrm>
          <a:prstGeom prst="rect">
            <a:avLst/>
          </a:prstGeom>
          <a:noFill/>
        </p:spPr>
        <p:txBody>
          <a:bodyPr wrap="square" lIns="635" tIns="635" rIns="635" bIns="635" rtlCol="0" anchor="t">
            <a:normAutofit/>
          </a:bodyPr>
          <a:lstStyle/>
          <a:p>
            <a:pPr marL="0" indent="0" algn="l">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Coefficient Comparison</a:t>
            </a:r>
            <a:endParaRPr lang="en-US" sz="1400" dirty="0"/>
          </a:p>
        </p:txBody>
      </p:sp>
      <p:sp>
        <p:nvSpPr>
          <p:cNvPr id="18" name="Text 15"/>
          <p:cNvSpPr txBox="1"/>
          <p:nvPr/>
        </p:nvSpPr>
        <p:spPr>
          <a:xfrm>
            <a:off x="4754880" y="3383280"/>
            <a:ext cx="3840480" cy="365760"/>
          </a:xfrm>
          <a:prstGeom prst="rect">
            <a:avLst/>
          </a:prstGeom>
          <a:noFill/>
        </p:spPr>
        <p:txBody>
          <a:bodyPr wrap="square" lIns="635" tIns="635" rIns="635" bIns="635" rtlCol="0" anchor="t">
            <a:normAutofit/>
          </a:bodyPr>
          <a:lstStyle/>
          <a:p>
            <a:pPr marL="0" indent="0" algn="ctr">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[Insert graph from Colab]</a:t>
            </a:r>
            <a:endParaRPr lang="en-US" sz="1300" dirty="0"/>
          </a:p>
        </p:txBody>
      </p:sp>
      <p:sp>
        <p:nvSpPr>
          <p:cNvPr id="19" name="Text 16"/>
          <p:cNvSpPr txBox="1"/>
          <p:nvPr/>
        </p:nvSpPr>
        <p:spPr>
          <a:xfrm>
            <a:off x="4754880" y="3977640"/>
            <a:ext cx="3840480" cy="457200"/>
          </a:xfrm>
          <a:prstGeom prst="rect">
            <a:avLst/>
          </a:prstGeom>
          <a:noFill/>
        </p:spPr>
        <p:txBody>
          <a:bodyPr wrap="square" lIns="635" tIns="635" rIns="635" bIns="635" rtlCol="0" anchor="t">
            <a:normAutofit/>
          </a:bodyPr>
          <a:lstStyle/>
          <a:p>
            <a:pPr marL="0" indent="0" algn="l">
              <a:buNone/>
            </a:pPr>
            <a:r>
              <a:rPr lang="en-US" sz="1200" i="1" dirty="0">
                <a:solidFill>
                  <a:srgbClr val="0F8B8D"/>
                </a:solidFill>
                <a:latin typeface="Calibri" panose="020F0502020204030204" pitchFamily="34" charset="0"/>
                <a:ea typeface="Calibri" panose="020F0502020204030204" pitchFamily="34" charset="-122"/>
                <a:cs typeface="Calibri" panose="020F0502020204030204" pitchFamily="34" charset="-120"/>
              </a:rPr>
              <a:t>How to read: Look for shrunk or zero coefficients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Interactive Prediction System</a:t>
            </a:r>
            <a:endParaRPr lang="en-US" sz="2800" dirty="0"/>
          </a:p>
        </p:txBody>
      </p:sp>
      <p:sp>
        <p:nvSpPr>
          <p:cNvPr id="4" name="Text 1"/>
          <p:cNvSpPr txBox="1"/>
          <p:nvPr/>
        </p:nvSpPr>
        <p:spPr>
          <a:xfrm>
            <a:off x="457200" y="1097280"/>
            <a:ext cx="4023360" cy="338328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Enter PM2.5, PM10, NO2, NH3, SO2, CO, O3</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Inputs scaled with fitted StandardScaler</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Ridge and Lasso predict AQI</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Shows both predictions + AQI category</a:t>
            </a:r>
            <a:endParaRPr lang="en-US" sz="1400" dirty="0"/>
          </a:p>
          <a:p>
            <a:pPr marL="342900" indent="-342900" algn="l">
              <a:spcAft>
                <a:spcPts val="400"/>
              </a:spcAft>
              <a:buSzPct val="100000"/>
              <a:buChar char="•"/>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Average = demonstration output only, not a validated model</a:t>
            </a:r>
            <a:endParaRPr lang="en-US" sz="1400" dirty="0"/>
          </a:p>
        </p:txBody>
      </p:sp>
      <p:sp>
        <p:nvSpPr>
          <p:cNvPr id="5" name="Shape 2"/>
          <p:cNvSpPr/>
          <p:nvPr/>
        </p:nvSpPr>
        <p:spPr>
          <a:xfrm>
            <a:off x="4754880" y="1005840"/>
            <a:ext cx="3931920" cy="3566160"/>
          </a:xfrm>
          <a:prstGeom prst="roundRect">
            <a:avLst>
              <a:gd name="adj" fmla="val 1538"/>
            </a:avLst>
          </a:prstGeom>
          <a:solidFill>
            <a:srgbClr val="FFFFFF"/>
          </a:solidFill>
          <a:ln w="19050">
            <a:solidFill>
              <a:srgbClr val="0F8B8D"/>
            </a:solidFill>
            <a:prstDash val="solid"/>
          </a:ln>
          <a:effectLst>
            <a:outerShdw blurRad="50800" dist="25400" dir="5400000" algn="bl" rotWithShape="0">
              <a:srgbClr val="000000">
                <a:alpha val="15000"/>
              </a:srgbClr>
            </a:outerShdw>
          </a:effectLst>
        </p:spPr>
      </p:sp>
      <p:sp>
        <p:nvSpPr>
          <p:cNvPr id="6" name="Shape 3"/>
          <p:cNvSpPr/>
          <p:nvPr/>
        </p:nvSpPr>
        <p:spPr>
          <a:xfrm>
            <a:off x="4754880" y="1005840"/>
            <a:ext cx="3931920" cy="411480"/>
          </a:xfrm>
          <a:prstGeom prst="roundRect">
            <a:avLst>
              <a:gd name="adj" fmla="val 13333"/>
            </a:avLst>
          </a:prstGeom>
          <a:solidFill>
            <a:srgbClr val="0B2545"/>
          </a:solidFill>
          <a:ln w="9525">
            <a:solidFill>
              <a:srgbClr val="0B2545"/>
            </a:solidFill>
            <a:prstDash val="solid"/>
          </a:ln>
        </p:spPr>
      </p:sp>
      <p:sp>
        <p:nvSpPr>
          <p:cNvPr id="7" name="Text 4"/>
          <p:cNvSpPr txBox="1"/>
          <p:nvPr/>
        </p:nvSpPr>
        <p:spPr>
          <a:xfrm>
            <a:off x="4846320" y="1005840"/>
            <a:ext cx="3749040" cy="411480"/>
          </a:xfrm>
          <a:prstGeom prst="rect">
            <a:avLst/>
          </a:prstGeom>
          <a:noFill/>
        </p:spPr>
        <p:txBody>
          <a:bodyPr wrap="square" lIns="635" tIns="635" rIns="635" bIns="635" rtlCol="0" anchor="ctr">
            <a:normAutofit/>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AQI Predictor (Gradio mockup)</a:t>
            </a:r>
            <a:endParaRPr lang="en-US" sz="1300" dirty="0"/>
          </a:p>
        </p:txBody>
      </p:sp>
      <p:sp>
        <p:nvSpPr>
          <p:cNvPr id="8" name="Text 5"/>
          <p:cNvSpPr txBox="1"/>
          <p:nvPr/>
        </p:nvSpPr>
        <p:spPr>
          <a:xfrm>
            <a:off x="4892040" y="15544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PM2.5</a:t>
            </a:r>
            <a:endParaRPr lang="en-US" sz="1100" dirty="0"/>
          </a:p>
        </p:txBody>
      </p:sp>
      <p:sp>
        <p:nvSpPr>
          <p:cNvPr id="9" name="Shape 6"/>
          <p:cNvSpPr/>
          <p:nvPr/>
        </p:nvSpPr>
        <p:spPr>
          <a:xfrm>
            <a:off x="5486400" y="1581912"/>
            <a:ext cx="1097280" cy="274320"/>
          </a:xfrm>
          <a:prstGeom prst="roundRect">
            <a:avLst>
              <a:gd name="adj" fmla="val 13333"/>
            </a:avLst>
          </a:prstGeom>
          <a:solidFill>
            <a:srgbClr val="EEF6F7"/>
          </a:solidFill>
          <a:ln w="9525">
            <a:solidFill>
              <a:srgbClr val="CBD5E1"/>
            </a:solidFill>
            <a:prstDash val="solid"/>
          </a:ln>
        </p:spPr>
      </p:sp>
      <p:sp>
        <p:nvSpPr>
          <p:cNvPr id="10" name="Text 7"/>
          <p:cNvSpPr txBox="1"/>
          <p:nvPr/>
        </p:nvSpPr>
        <p:spPr>
          <a:xfrm>
            <a:off x="6766560" y="15544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PM10</a:t>
            </a:r>
            <a:endParaRPr lang="en-US" sz="1100" dirty="0"/>
          </a:p>
        </p:txBody>
      </p:sp>
      <p:sp>
        <p:nvSpPr>
          <p:cNvPr id="11" name="Shape 8"/>
          <p:cNvSpPr/>
          <p:nvPr/>
        </p:nvSpPr>
        <p:spPr>
          <a:xfrm>
            <a:off x="7360920" y="1581912"/>
            <a:ext cx="1097280" cy="274320"/>
          </a:xfrm>
          <a:prstGeom prst="roundRect">
            <a:avLst>
              <a:gd name="adj" fmla="val 13333"/>
            </a:avLst>
          </a:prstGeom>
          <a:solidFill>
            <a:srgbClr val="EEF6F7"/>
          </a:solidFill>
          <a:ln w="9525">
            <a:solidFill>
              <a:srgbClr val="CBD5E1"/>
            </a:solidFill>
            <a:prstDash val="solid"/>
          </a:ln>
        </p:spPr>
      </p:sp>
      <p:sp>
        <p:nvSpPr>
          <p:cNvPr id="12" name="Text 9"/>
          <p:cNvSpPr txBox="1"/>
          <p:nvPr/>
        </p:nvSpPr>
        <p:spPr>
          <a:xfrm>
            <a:off x="4892040" y="20116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NO2</a:t>
            </a:r>
            <a:endParaRPr lang="en-US" sz="1100" dirty="0"/>
          </a:p>
        </p:txBody>
      </p:sp>
      <p:sp>
        <p:nvSpPr>
          <p:cNvPr id="13" name="Shape 10"/>
          <p:cNvSpPr/>
          <p:nvPr/>
        </p:nvSpPr>
        <p:spPr>
          <a:xfrm>
            <a:off x="5486400" y="2039112"/>
            <a:ext cx="1097280" cy="274320"/>
          </a:xfrm>
          <a:prstGeom prst="roundRect">
            <a:avLst>
              <a:gd name="adj" fmla="val 13333"/>
            </a:avLst>
          </a:prstGeom>
          <a:solidFill>
            <a:srgbClr val="EEF6F7"/>
          </a:solidFill>
          <a:ln w="9525">
            <a:solidFill>
              <a:srgbClr val="CBD5E1"/>
            </a:solidFill>
            <a:prstDash val="solid"/>
          </a:ln>
        </p:spPr>
      </p:sp>
      <p:sp>
        <p:nvSpPr>
          <p:cNvPr id="14" name="Text 11"/>
          <p:cNvSpPr txBox="1"/>
          <p:nvPr/>
        </p:nvSpPr>
        <p:spPr>
          <a:xfrm>
            <a:off x="6766560" y="20116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NH3</a:t>
            </a:r>
            <a:endParaRPr lang="en-US" sz="1100" dirty="0"/>
          </a:p>
        </p:txBody>
      </p:sp>
      <p:sp>
        <p:nvSpPr>
          <p:cNvPr id="15" name="Shape 12"/>
          <p:cNvSpPr/>
          <p:nvPr/>
        </p:nvSpPr>
        <p:spPr>
          <a:xfrm>
            <a:off x="7360920" y="2039112"/>
            <a:ext cx="1097280" cy="274320"/>
          </a:xfrm>
          <a:prstGeom prst="roundRect">
            <a:avLst>
              <a:gd name="adj" fmla="val 13333"/>
            </a:avLst>
          </a:prstGeom>
          <a:solidFill>
            <a:srgbClr val="EEF6F7"/>
          </a:solidFill>
          <a:ln w="9525">
            <a:solidFill>
              <a:srgbClr val="CBD5E1"/>
            </a:solidFill>
            <a:prstDash val="solid"/>
          </a:ln>
        </p:spPr>
      </p:sp>
      <p:sp>
        <p:nvSpPr>
          <p:cNvPr id="16" name="Text 13"/>
          <p:cNvSpPr txBox="1"/>
          <p:nvPr/>
        </p:nvSpPr>
        <p:spPr>
          <a:xfrm>
            <a:off x="4892040" y="24688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SO2</a:t>
            </a:r>
            <a:endParaRPr lang="en-US" sz="1100" dirty="0"/>
          </a:p>
        </p:txBody>
      </p:sp>
      <p:sp>
        <p:nvSpPr>
          <p:cNvPr id="17" name="Shape 14"/>
          <p:cNvSpPr/>
          <p:nvPr/>
        </p:nvSpPr>
        <p:spPr>
          <a:xfrm>
            <a:off x="5486400" y="2496312"/>
            <a:ext cx="1097280" cy="274320"/>
          </a:xfrm>
          <a:prstGeom prst="roundRect">
            <a:avLst>
              <a:gd name="adj" fmla="val 13333"/>
            </a:avLst>
          </a:prstGeom>
          <a:solidFill>
            <a:srgbClr val="EEF6F7"/>
          </a:solidFill>
          <a:ln w="9525">
            <a:solidFill>
              <a:srgbClr val="CBD5E1"/>
            </a:solidFill>
            <a:prstDash val="solid"/>
          </a:ln>
        </p:spPr>
      </p:sp>
      <p:sp>
        <p:nvSpPr>
          <p:cNvPr id="18" name="Text 15"/>
          <p:cNvSpPr txBox="1"/>
          <p:nvPr/>
        </p:nvSpPr>
        <p:spPr>
          <a:xfrm>
            <a:off x="6766560" y="24688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CO</a:t>
            </a:r>
            <a:endParaRPr lang="en-US" sz="1100" dirty="0"/>
          </a:p>
        </p:txBody>
      </p:sp>
      <p:sp>
        <p:nvSpPr>
          <p:cNvPr id="19" name="Shape 16"/>
          <p:cNvSpPr/>
          <p:nvPr/>
        </p:nvSpPr>
        <p:spPr>
          <a:xfrm>
            <a:off x="7360920" y="2496312"/>
            <a:ext cx="1097280" cy="274320"/>
          </a:xfrm>
          <a:prstGeom prst="roundRect">
            <a:avLst>
              <a:gd name="adj" fmla="val 13333"/>
            </a:avLst>
          </a:prstGeom>
          <a:solidFill>
            <a:srgbClr val="EEF6F7"/>
          </a:solidFill>
          <a:ln w="9525">
            <a:solidFill>
              <a:srgbClr val="CBD5E1"/>
            </a:solidFill>
            <a:prstDash val="solid"/>
          </a:ln>
        </p:spPr>
      </p:sp>
      <p:sp>
        <p:nvSpPr>
          <p:cNvPr id="20" name="Text 17"/>
          <p:cNvSpPr txBox="1"/>
          <p:nvPr/>
        </p:nvSpPr>
        <p:spPr>
          <a:xfrm>
            <a:off x="4892040" y="2926080"/>
            <a:ext cx="640080" cy="320040"/>
          </a:xfrm>
          <a:prstGeom prst="rect">
            <a:avLst/>
          </a:prstGeom>
          <a:noFill/>
        </p:spPr>
        <p:txBody>
          <a:bodyPr wrap="square" lIns="635" tIns="635" rIns="635" bIns="635" rtlCol="0" anchor="ctr">
            <a:normAutofit/>
          </a:bodyPr>
          <a:lstStyle/>
          <a:p>
            <a:pPr marL="0" indent="0" algn="l">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O3</a:t>
            </a:r>
            <a:endParaRPr lang="en-US" sz="1100" dirty="0"/>
          </a:p>
        </p:txBody>
      </p:sp>
      <p:sp>
        <p:nvSpPr>
          <p:cNvPr id="21" name="Shape 18"/>
          <p:cNvSpPr/>
          <p:nvPr/>
        </p:nvSpPr>
        <p:spPr>
          <a:xfrm>
            <a:off x="5486400" y="2953512"/>
            <a:ext cx="1097280" cy="274320"/>
          </a:xfrm>
          <a:prstGeom prst="roundRect">
            <a:avLst>
              <a:gd name="adj" fmla="val 13333"/>
            </a:avLst>
          </a:prstGeom>
          <a:solidFill>
            <a:srgbClr val="EEF6F7"/>
          </a:solidFill>
          <a:ln w="9525">
            <a:solidFill>
              <a:srgbClr val="CBD5E1"/>
            </a:solidFill>
            <a:prstDash val="solid"/>
          </a:ln>
        </p:spPr>
      </p:sp>
      <p:sp>
        <p:nvSpPr>
          <p:cNvPr id="22" name="Shape 19"/>
          <p:cNvSpPr/>
          <p:nvPr/>
        </p:nvSpPr>
        <p:spPr>
          <a:xfrm>
            <a:off x="5806440" y="3429000"/>
            <a:ext cx="1554480" cy="320040"/>
          </a:xfrm>
          <a:prstGeom prst="roundRect">
            <a:avLst>
              <a:gd name="adj" fmla="val 17143"/>
            </a:avLst>
          </a:prstGeom>
          <a:solidFill>
            <a:srgbClr val="0F8B8D"/>
          </a:solidFill>
          <a:ln w="9525">
            <a:solidFill>
              <a:srgbClr val="0F8B8D"/>
            </a:solidFill>
            <a:prstDash val="solid"/>
          </a:ln>
        </p:spPr>
      </p:sp>
      <p:sp>
        <p:nvSpPr>
          <p:cNvPr id="23" name="Text 20"/>
          <p:cNvSpPr txBox="1"/>
          <p:nvPr/>
        </p:nvSpPr>
        <p:spPr>
          <a:xfrm>
            <a:off x="5806440" y="3429000"/>
            <a:ext cx="1554480" cy="320040"/>
          </a:xfrm>
          <a:prstGeom prst="rect">
            <a:avLst/>
          </a:prstGeom>
          <a:noFill/>
        </p:spPr>
        <p:txBody>
          <a:bodyPr wrap="square" lIns="635" tIns="635" rIns="635" bIns="635" rtlCol="0" anchor="ctr">
            <a:normAutofit/>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a:t>
            </a:r>
            <a:endParaRPr lang="en-US" sz="1200" dirty="0"/>
          </a:p>
        </p:txBody>
      </p:sp>
      <p:sp>
        <p:nvSpPr>
          <p:cNvPr id="24" name="Text 21"/>
          <p:cNvSpPr txBox="1"/>
          <p:nvPr/>
        </p:nvSpPr>
        <p:spPr>
          <a:xfrm>
            <a:off x="4846320" y="3794760"/>
            <a:ext cx="3749040" cy="640080"/>
          </a:xfrm>
          <a:prstGeom prst="rect">
            <a:avLst/>
          </a:prstGeom>
          <a:noFill/>
        </p:spPr>
        <p:txBody>
          <a:bodyPr wrap="square" lIns="635" tIns="635" rIns="635" bIns="635" rtlCol="0" anchor="t">
            <a:normAutofit/>
          </a:bodyPr>
          <a:lstStyle/>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Ridge: [value]   Lasso: [value]</a:t>
            </a:r>
            <a:endParaRPr lang="en-US" sz="1100" dirty="0"/>
          </a:p>
          <a:p>
            <a:pPr marL="0" indent="0" algn="ctr">
              <a:buNone/>
            </a:pPr>
            <a:r>
              <a:rPr lang="en-US" sz="1100" dirty="0">
                <a:solidFill>
                  <a:srgbClr val="0B2545"/>
                </a:solidFill>
                <a:latin typeface="Calibri" panose="020F0502020204030204" pitchFamily="34" charset="0"/>
                <a:ea typeface="Calibri" panose="020F0502020204030204" pitchFamily="34" charset="-122"/>
                <a:cs typeface="Calibri" panose="020F0502020204030204" pitchFamily="34" charset="-120"/>
              </a:rPr>
              <a:t>Average (demo): [value]   Category: [name]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Limitations and Future Scope</a:t>
            </a:r>
            <a:endParaRPr lang="en-US" sz="2800" dirty="0"/>
          </a:p>
        </p:txBody>
      </p:sp>
      <p:sp>
        <p:nvSpPr>
          <p:cNvPr id="4" name="Shape 1"/>
          <p:cNvSpPr/>
          <p:nvPr/>
        </p:nvSpPr>
        <p:spPr>
          <a:xfrm>
            <a:off x="457200" y="1097280"/>
            <a:ext cx="4023360" cy="3383280"/>
          </a:xfrm>
          <a:prstGeom prst="roundRect">
            <a:avLst>
              <a:gd name="adj" fmla="val 2162"/>
            </a:avLst>
          </a:prstGeom>
          <a:solidFill>
            <a:srgbClr val="EEF6F7"/>
          </a:solidFill>
          <a:ln w="9525">
            <a:solidFill>
              <a:srgbClr val="EEF6F7"/>
            </a:solidFill>
            <a:prstDash val="solid"/>
          </a:ln>
        </p:spPr>
      </p:sp>
      <p:sp>
        <p:nvSpPr>
          <p:cNvPr id="5" name="Shape 2"/>
          <p:cNvSpPr/>
          <p:nvPr/>
        </p:nvSpPr>
        <p:spPr>
          <a:xfrm>
            <a:off x="594360" y="1234440"/>
            <a:ext cx="109728" cy="109728"/>
          </a:xfrm>
          <a:prstGeom prst="rect">
            <a:avLst/>
          </a:prstGeom>
          <a:solidFill>
            <a:srgbClr val="D1495B"/>
          </a:solidFill>
          <a:ln w="9525">
            <a:solidFill>
              <a:srgbClr val="D1495B"/>
            </a:solidFill>
            <a:prstDash val="solid"/>
          </a:ln>
        </p:spPr>
      </p:sp>
      <p:sp>
        <p:nvSpPr>
          <p:cNvPr id="6" name="Text 3"/>
          <p:cNvSpPr txBox="1"/>
          <p:nvPr/>
        </p:nvSpPr>
        <p:spPr>
          <a:xfrm>
            <a:off x="749808" y="1170432"/>
            <a:ext cx="36576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Limitations</a:t>
            </a:r>
            <a:endParaRPr lang="en-US" sz="1500" dirty="0"/>
          </a:p>
        </p:txBody>
      </p:sp>
      <p:sp>
        <p:nvSpPr>
          <p:cNvPr id="7" name="Text 4"/>
          <p:cNvSpPr txBox="1"/>
          <p:nvPr/>
        </p:nvSpPr>
        <p:spPr>
          <a:xfrm>
            <a:off x="594360" y="1508760"/>
            <a:ext cx="3749040" cy="288036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AQI target is computed from the same inputs used as features</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Model approximates the calculation; it is not independent future prediction</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Scores alone do not prove real-world ability</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Breakpoints and unit consistency need validation</a:t>
            </a:r>
            <a:endParaRPr lang="en-US" sz="1300" dirty="0"/>
          </a:p>
        </p:txBody>
      </p:sp>
      <p:sp>
        <p:nvSpPr>
          <p:cNvPr id="8" name="Shape 5"/>
          <p:cNvSpPr/>
          <p:nvPr/>
        </p:nvSpPr>
        <p:spPr>
          <a:xfrm>
            <a:off x="4663440" y="1097280"/>
            <a:ext cx="4023360" cy="3383280"/>
          </a:xfrm>
          <a:prstGeom prst="roundRect">
            <a:avLst>
              <a:gd name="adj" fmla="val 2162"/>
            </a:avLst>
          </a:prstGeom>
          <a:solidFill>
            <a:srgbClr val="EEF6F7"/>
          </a:solidFill>
          <a:ln w="9525">
            <a:solidFill>
              <a:srgbClr val="EEF6F7"/>
            </a:solidFill>
            <a:prstDash val="solid"/>
          </a:ln>
        </p:spPr>
      </p:sp>
      <p:sp>
        <p:nvSpPr>
          <p:cNvPr id="9" name="Shape 6"/>
          <p:cNvSpPr/>
          <p:nvPr/>
        </p:nvSpPr>
        <p:spPr>
          <a:xfrm>
            <a:off x="4800600" y="1234440"/>
            <a:ext cx="109728" cy="109728"/>
          </a:xfrm>
          <a:prstGeom prst="rect">
            <a:avLst/>
          </a:prstGeom>
          <a:solidFill>
            <a:srgbClr val="6BBF59"/>
          </a:solidFill>
          <a:ln w="9525">
            <a:solidFill>
              <a:srgbClr val="6BBF59"/>
            </a:solidFill>
            <a:prstDash val="solid"/>
          </a:ln>
        </p:spPr>
      </p:sp>
      <p:sp>
        <p:nvSpPr>
          <p:cNvPr id="10" name="Text 7"/>
          <p:cNvSpPr txBox="1"/>
          <p:nvPr/>
        </p:nvSpPr>
        <p:spPr>
          <a:xfrm>
            <a:off x="4956048" y="1170432"/>
            <a:ext cx="3657600" cy="274320"/>
          </a:xfrm>
          <a:prstGeom prst="rect">
            <a:avLst/>
          </a:prstGeom>
          <a:noFill/>
        </p:spPr>
        <p:txBody>
          <a:bodyPr wrap="square" lIns="635" tIns="635" rIns="635" bIns="635" rtlCol="0" anchor="ctr">
            <a:normAutofit/>
          </a:bodyPr>
          <a:lstStyle/>
          <a:p>
            <a:pPr marL="0" indent="0" algn="l">
              <a:buNone/>
            </a:pPr>
            <a:r>
              <a:rPr lang="en-US" sz="1500" b="1" dirty="0">
                <a:solidFill>
                  <a:srgbClr val="0B2545"/>
                </a:solidFill>
                <a:latin typeface="Calibri" panose="020F0502020204030204" pitchFamily="34" charset="0"/>
                <a:ea typeface="Calibri" panose="020F0502020204030204" pitchFamily="34" charset="-122"/>
                <a:cs typeface="Calibri" panose="020F0502020204030204" pitchFamily="34" charset="-120"/>
              </a:rPr>
              <a:t>Future Scope</a:t>
            </a:r>
            <a:endParaRPr lang="en-US" sz="1500" dirty="0"/>
          </a:p>
        </p:txBody>
      </p:sp>
      <p:sp>
        <p:nvSpPr>
          <p:cNvPr id="11" name="Text 8"/>
          <p:cNvSpPr txBox="1"/>
          <p:nvPr/>
        </p:nvSpPr>
        <p:spPr>
          <a:xfrm>
            <a:off x="4800600" y="1508760"/>
            <a:ext cx="3749040" cy="288036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Independently measured AQI labels</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Time-based forecasting</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Live air-quality data</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Better hyperparameter tuning</a:t>
            </a:r>
            <a:endParaRPr lang="en-US" sz="1300" dirty="0"/>
          </a:p>
          <a:p>
            <a:pPr marL="342900" indent="-342900" algn="l">
              <a:spcAft>
                <a:spcPts val="400"/>
              </a:spcAft>
              <a:buSzPct val="100000"/>
              <a:buChar char="•"/>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Deployed web application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p:spPr>
        <p:txBody>
          <a:bodyPr wrap="square" lIns="635" tIns="635" rIns="635" bIns="635" rtlCol="0" anchor="ctr">
            <a:normAutofit/>
          </a:bodyPr>
          <a:lstStyle/>
          <a:p>
            <a:pPr marL="0" indent="0" algn="l">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a:t>
            </a:r>
            <a:endParaRPr lang="en-US" sz="2800" dirty="0"/>
          </a:p>
        </p:txBody>
      </p:sp>
      <p:sp>
        <p:nvSpPr>
          <p:cNvPr id="4" name="Text 1"/>
          <p:cNvSpPr txBox="1"/>
          <p:nvPr/>
        </p:nvSpPr>
        <p:spPr>
          <a:xfrm>
            <a:off x="548640" y="1005840"/>
            <a:ext cx="4937760" cy="2377440"/>
          </a:xfrm>
          <a:prstGeom prst="rect">
            <a:avLst/>
          </a:prstGeom>
          <a:noFill/>
        </p:spPr>
        <p:txBody>
          <a:bodyPr wrap="square" lIns="635" tIns="635" rIns="635" bIns="635" rtlCol="0" anchor="t">
            <a:normAutofit/>
          </a:bodyPr>
          <a:lstStyle/>
          <a:p>
            <a:pPr marL="342900" indent="-342900" algn="l">
              <a:spcAft>
                <a:spcPts val="400"/>
              </a:spcAft>
              <a:buSzPct val="100000"/>
              <a:buChar char="•"/>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Workflow: data → preprocessing → AQI target → split → scaling → models → evaluation → Gradio</a:t>
            </a:r>
            <a:endParaRPr lang="en-US" sz="1500" dirty="0"/>
          </a:p>
          <a:p>
            <a:pPr marL="342900" indent="-342900" algn="l">
              <a:spcAft>
                <a:spcPts val="400"/>
              </a:spcAft>
              <a:buSzPct val="100000"/>
              <a:buChar char="•"/>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Ridge shrinks coefficients; Lasso can set some to zero</a:t>
            </a:r>
            <a:endParaRPr lang="en-US" sz="1500" dirty="0"/>
          </a:p>
          <a:p>
            <a:pPr marL="342900" indent="-342900" algn="l">
              <a:spcAft>
                <a:spcPts val="400"/>
              </a:spcAft>
              <a:buSzPct val="100000"/>
              <a:buChar char="•"/>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Final conclusions should rely on measured evaluation results</a:t>
            </a:r>
            <a:endParaRPr lang="en-US" sz="1500" dirty="0"/>
          </a:p>
        </p:txBody>
      </p:sp>
      <p:sp>
        <p:nvSpPr>
          <p:cNvPr id="5" name="Text 2"/>
          <p:cNvSpPr txBox="1"/>
          <p:nvPr/>
        </p:nvSpPr>
        <p:spPr>
          <a:xfrm>
            <a:off x="548640" y="3474720"/>
            <a:ext cx="4937760" cy="731520"/>
          </a:xfrm>
          <a:prstGeom prst="rect">
            <a:avLst/>
          </a:prstGeom>
          <a:noFill/>
        </p:spPr>
        <p:txBody>
          <a:bodyPr wrap="square" lIns="635" tIns="635" rIns="635" bIns="635" rtlCol="0" anchor="t">
            <a:normAutofit/>
          </a:bodyPr>
          <a:lstStyle/>
          <a:p>
            <a:pPr marL="0" indent="0" algn="l">
              <a:buNone/>
            </a:pPr>
            <a:r>
              <a:rPr lang="en-US" sz="3800" b="1" dirty="0">
                <a:solidFill>
                  <a:srgbClr val="6BBF59"/>
                </a:solidFill>
                <a:latin typeface="Cambria" panose="02040503050406030204" pitchFamily="34" charset="0"/>
                <a:ea typeface="Cambria" panose="02040503050406030204" pitchFamily="34" charset="-122"/>
                <a:cs typeface="Cambria" panose="02040503050406030204" pitchFamily="34" charset="-120"/>
              </a:rPr>
              <a:t>Thank You</a:t>
            </a:r>
            <a:endParaRPr lang="en-US" sz="3800" dirty="0"/>
          </a:p>
        </p:txBody>
      </p:sp>
      <p:sp>
        <p:nvSpPr>
          <p:cNvPr id="6" name="Text 3"/>
          <p:cNvSpPr txBox="1"/>
          <p:nvPr/>
        </p:nvSpPr>
        <p:spPr>
          <a:xfrm>
            <a:off x="548640" y="4206240"/>
            <a:ext cx="4937760" cy="548640"/>
          </a:xfrm>
          <a:prstGeom prst="rect">
            <a:avLst/>
          </a:prstGeom>
          <a:noFill/>
        </p:spPr>
        <p:txBody>
          <a:bodyPr wrap="square" lIns="635" tIns="635" rIns="635" bIns="635" rtlCol="0" anchor="t">
            <a:normAutofit/>
          </a:bodyPr>
          <a:lstStyle/>
          <a:p>
            <a:pPr marL="0" indent="0" algn="l">
              <a:buNone/>
            </a:pPr>
            <a:r>
              <a:rPr lang="en-US" sz="2400" dirty="0">
                <a:solidFill>
                  <a:srgbClr val="FFFFFF"/>
                </a:solidFill>
                <a:latin typeface="Calibri" panose="020F0502020204030204" pitchFamily="34" charset="0"/>
                <a:ea typeface="Calibri" panose="020F0502020204030204" pitchFamily="34" charset="-122"/>
                <a:cs typeface="Calibri" panose="020F0502020204030204" pitchFamily="34" charset="-120"/>
              </a:rPr>
              <a:t>Questions?</a:t>
            </a:r>
            <a:endParaRPr lang="en-US" sz="2400" dirty="0"/>
          </a:p>
        </p:txBody>
      </p:sp>
      <p:sp>
        <p:nvSpPr>
          <p:cNvPr id="7" name="Shape 4"/>
          <p:cNvSpPr/>
          <p:nvPr/>
        </p:nvSpPr>
        <p:spPr>
          <a:xfrm>
            <a:off x="6217920" y="1188720"/>
            <a:ext cx="2560320" cy="2560320"/>
          </a:xfrm>
          <a:prstGeom prst="ellipse">
            <a:avLst/>
          </a:prstGeom>
          <a:solidFill>
            <a:srgbClr val="0F8B8D">
              <a:alpha val="70000"/>
            </a:srgbClr>
          </a:solidFill>
          <a:ln w="25400">
            <a:solidFill>
              <a:srgbClr val="6BBF59"/>
            </a:solidFill>
            <a:prstDash val="solid"/>
          </a:ln>
        </p:spPr>
      </p:sp>
      <p:sp>
        <p:nvSpPr>
          <p:cNvPr id="8" name="Text 5"/>
          <p:cNvSpPr txBox="1"/>
          <p:nvPr/>
        </p:nvSpPr>
        <p:spPr>
          <a:xfrm>
            <a:off x="6217920" y="1188720"/>
            <a:ext cx="2560320" cy="2560320"/>
          </a:xfrm>
          <a:prstGeom prst="rect">
            <a:avLst/>
          </a:prstGeom>
          <a:noFill/>
        </p:spPr>
        <p:txBody>
          <a:bodyPr wrap="square" lIns="635" tIns="635" rIns="635" bIns="635" rtlCol="0" anchor="ctr">
            <a:normAutofit/>
          </a:bodyPr>
          <a:lstStyle/>
          <a:p>
            <a:pPr marL="0" indent="0" algn="ctr">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Q&amp;A</a:t>
            </a:r>
            <a:endParaRPr lang="en-US" sz="4000" dirty="0"/>
          </a:p>
        </p:txBody>
      </p:sp>
    </p:spTree>
  </p:cSld>
  <p:clrMapOvr>
    <a:masterClrMapping/>
  </p:clrMapOvr>
</p:sld>
</file>

<file path=ppt/theme/theme1.xml><?xml version="1.0" encoding="utf-8"?>
<a:theme xmlns:a="http://schemas.openxmlformats.org/drawingml/2006/main" name="AQI">
  <a:themeElements>
    <a:clrScheme name="AQI">
      <a:dk1>
        <a:srgbClr val="1F2937"/>
      </a:dk1>
      <a:lt1>
        <a:srgbClr val="FFFFFF"/>
      </a:lt1>
      <a:dk2>
        <a:srgbClr val="0B2545"/>
      </a:dk2>
      <a:lt2>
        <a:srgbClr val="EEF6F7"/>
      </a:lt2>
      <a:accent1>
        <a:srgbClr val="0F8B8D"/>
      </a:accent1>
      <a:accent2>
        <a:srgbClr val="6BBF59"/>
      </a:accent2>
      <a:accent3>
        <a:srgbClr val="1D4E89"/>
      </a:accent3>
      <a:accent4>
        <a:srgbClr val="F2A541"/>
      </a:accent4>
      <a:accent5>
        <a:srgbClr val="D1495B"/>
      </a:accent5>
      <a:accent6>
        <a:srgbClr val="64748B"/>
      </a:accent6>
      <a:hlink>
        <a:srgbClr val="0F8B8D"/>
      </a:hlink>
      <a:folHlink>
        <a:srgbClr val="64748B"/>
      </a:folHlink>
    </a:clrScheme>
    <a:fontScheme name="AQ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QI">
  <a:themeElements>
    <a:clrScheme name="AQI">
      <a:dk1>
        <a:srgbClr val="1F2937"/>
      </a:dk1>
      <a:lt1>
        <a:srgbClr val="FFFFFF"/>
      </a:lt1>
      <a:dk2>
        <a:srgbClr val="0B2545"/>
      </a:dk2>
      <a:lt2>
        <a:srgbClr val="EEF6F7"/>
      </a:lt2>
      <a:accent1>
        <a:srgbClr val="0F8B8D"/>
      </a:accent1>
      <a:accent2>
        <a:srgbClr val="6BBF59"/>
      </a:accent2>
      <a:accent3>
        <a:srgbClr val="1D4E89"/>
      </a:accent3>
      <a:accent4>
        <a:srgbClr val="F2A541"/>
      </a:accent4>
      <a:accent5>
        <a:srgbClr val="D1495B"/>
      </a:accent5>
      <a:accent6>
        <a:srgbClr val="64748B"/>
      </a:accent6>
      <a:hlink>
        <a:srgbClr val="0F8B8D"/>
      </a:hlink>
      <a:folHlink>
        <a:srgbClr val="64748B"/>
      </a:folHlink>
    </a:clrScheme>
    <a:fontScheme name="AQ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5437</Words>
  <Application>WPS Presentation</Application>
  <PresentationFormat>On-screen Show (16:9)</PresentationFormat>
  <Paragraphs>514</Paragraphs>
  <Slides>16</Slides>
  <Notes>16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AQI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AQI Prediction Using Ridge and Lasso Regression</dc:title>
  <dc:creator>PptxGenJS</dc:creator>
  <dc:subject>PptxGenJS Presentation</dc:subject>
  <cp:lastModifiedBy>Ronak Agarwal</cp:lastModifiedBy>
  <cp:revision>2</cp:revision>
  <dcterms:created xsi:type="dcterms:W3CDTF">2026-10-13T16:21:00Z</dcterms:created>
  <dcterms:modified xsi:type="dcterms:W3CDTF">2026-10-20T08:07:23Z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BB2B87159DD54101B60A28B12E08D8EE_12</vt:lpwstr>
  </property>
  <property fmtid="{D5CDD505-2E9C-101B-9397-08002B2CF9AE}" pid="3" name="KSOProductBuildVer">
    <vt:lpwstr>1033-12.1.0.29162</vt:lpwstr>
  </property>
</Properties>
</file>